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• MACHINE LEARNING FOR CONSUMER BEHAVIOR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CUSTOMERS ACT UNEXPECTEDLY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904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Mengurai misteri premi naik, churn tertunda, dan akuisisi yang melonjak.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927080" cy="1956816"/>
          </a:xfrm>
          <a:prstGeom prst="roundRect">
            <a:avLst>
              <a:gd name="adj" fmla="val 6075"/>
            </a:avLst>
          </a:prstGeom>
          <a:solidFill>
            <a:srgbClr val="173250"/>
          </a:solidFill>
          <a:ln w="12700">
            <a:solidFill>
              <a:srgbClr val="1732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33741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ANOMALI → HIPOTESIS → DATA → MODEL → INSIGHT → KEPUTUSAN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1056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+ eksperimen Python + visualisasi + evaluasi bisnis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paradox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527048"/>
            <a:ext cx="3538728" cy="3182112"/>
          </a:xfrm>
          <a:prstGeom prst="roundRect">
            <a:avLst>
              <a:gd name="adj" fmla="val 3736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27048"/>
            <a:ext cx="68580" cy="31821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4650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PREMI +10%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31136"/>
            <a:ext cx="31272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 bulanan dinaikkan; pelanggan tidak langsung berhenti. Mengapa?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06824" y="1527048"/>
            <a:ext cx="3538728" cy="3182112"/>
          </a:xfrm>
          <a:prstGeom prst="roundRect">
            <a:avLst>
              <a:gd name="adj" fmla="val 3736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527048"/>
            <a:ext cx="68580" cy="318211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4650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CHURN MENDADAK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231136"/>
            <a:ext cx="31272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Beberapa bulan kemudian tingkat non-renewal melonjak. Apa sinyal sebelumnya?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83296" y="1527048"/>
            <a:ext cx="3538728" cy="3182112"/>
          </a:xfrm>
          <a:prstGeom prst="roundRect">
            <a:avLst>
              <a:gd name="adj" fmla="val 3736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527048"/>
            <a:ext cx="68580" cy="3182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74650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AKUISISI ANEH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02752" y="2231136"/>
            <a:ext cx="31272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sepi, tetapi di waktu lain pendaftaran meningkat. Faktor apa yang hilang?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inti: bisa memprediksi siapa/kapankah, dan bisakah membuktikan penyebabnya?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 | kemampuan peserta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99616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24128" y="1499616"/>
            <a:ext cx="10469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Merumuskan masalah bisnis menjadi target supervised / unsupervised / time-series.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24128" y="2331720"/>
            <a:ext cx="10469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customer-month dataset dan label churn tanpa data leakage.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24128" y="3163824"/>
            <a:ext cx="10469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Menjalankan EDA cohort, renewal, premium sensitivity dan change-point analysis.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99592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24128" y="3995928"/>
            <a:ext cx="10469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Melatih baseline dan model ML, menguji secara out-of-time, serta memilih metrik tepat.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82803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4128" y="4828032"/>
            <a:ext cx="10469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Menerjemahkan probabilitas menjadi prioritas retention dan eksperimen bisnis.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path | 8 tahap end-to-end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" y="1618488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556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057400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framing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8970" y="207568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7278" y="1618488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3582" y="17556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4438" y="2057400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audit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16752" y="207568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618488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1364" y="17556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2220" y="2057400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&amp; cohort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4534" y="207568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22842" y="1618488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9146" y="17556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60002" y="2057400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&amp; feature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9496" y="3364992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021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" y="3803904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88970" y="382219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67278" y="3364992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3582" y="35021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04438" y="3803904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16752" y="382219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3364992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1364" y="35021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2220" y="3803904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44534" y="382219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22842" y="3364992"/>
            <a:ext cx="2608326" cy="1078992"/>
          </a:xfrm>
          <a:prstGeom prst="roundRect">
            <a:avLst>
              <a:gd name="adj" fmla="val 11017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9146" y="35021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60002" y="3803904"/>
            <a:ext cx="2334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&amp; monitor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tahap menghasilkan artefak yang dinilai: problem brief, dataset, visual, model, score, dan action plan.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Rencana 4 sesi | 12 jam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5376672" cy="1664208"/>
          </a:xfrm>
          <a:prstGeom prst="roundRect">
            <a:avLst>
              <a:gd name="adj" fmla="val 714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45336"/>
            <a:ext cx="68580" cy="16642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6479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 1 • 3 JAM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2249424"/>
            <a:ext cx="4965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framing, data dictionary, EDA anomaly, cohort &amp; hypothesizing.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912" y="1545336"/>
            <a:ext cx="5376672" cy="1664208"/>
          </a:xfrm>
          <a:prstGeom prst="roundRect">
            <a:avLst>
              <a:gd name="adj" fmla="val 714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3912" y="1545336"/>
            <a:ext cx="68580" cy="16642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76479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 2 • 3 JAM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368" y="2249424"/>
            <a:ext cx="4965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definition, time split, missing values, leakage, baseline.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65576"/>
            <a:ext cx="5376672" cy="1664208"/>
          </a:xfrm>
          <a:prstGeom prst="roundRect">
            <a:avLst>
              <a:gd name="adj" fmla="val 714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65576"/>
            <a:ext cx="68580" cy="1664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68503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 3 • 3 JAM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" y="4169664"/>
            <a:ext cx="4965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vs tree-based ML, PR-AUC, lift, diagnostics.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53912" y="3465576"/>
            <a:ext cx="5376672" cy="1664208"/>
          </a:xfrm>
          <a:prstGeom prst="roundRect">
            <a:avLst>
              <a:gd name="adj" fmla="val 714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3465576"/>
            <a:ext cx="68580" cy="16642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68503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 4 • 3 JAM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73368" y="4169664"/>
            <a:ext cx="4965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Interpretation, causal testing, retention playbook, final pitch.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Kerangka bisnis: 3 pertanyaan ≠ 1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517904"/>
            <a:ext cx="3538728" cy="3410712"/>
          </a:xfrm>
          <a:prstGeom prst="roundRect">
            <a:avLst>
              <a:gd name="adj" fmla="val 3485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17904"/>
            <a:ext cx="68580" cy="341071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3736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/ RETENTION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21992"/>
            <a:ext cx="312724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Unit: customer × month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cancel / lapse dalam 30 atau 60 hari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classification / survival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1517904"/>
            <a:ext cx="3538728" cy="3410712"/>
          </a:xfrm>
          <a:prstGeom prst="roundRect">
            <a:avLst>
              <a:gd name="adj" fmla="val 3485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517904"/>
            <a:ext cx="68580" cy="34107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73736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/ DEMAND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44568" y="2221992"/>
            <a:ext cx="312724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Unit: region × product × week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new policies / lead conversion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forecasting / count / uplift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517904"/>
            <a:ext cx="3538728" cy="3410712"/>
          </a:xfrm>
          <a:prstGeom prst="roundRect">
            <a:avLst>
              <a:gd name="adj" fmla="val 3485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517904"/>
            <a:ext cx="68580" cy="34107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73736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/ PATTERN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2221992"/>
            <a:ext cx="312724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Unit: customer atau cohort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tidak ada label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clustering / change point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Jangan melatih satu classifier lalu mengklaim ia menjelaskan ketiga fenomena tersebut.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map | apa yang mungkin tersembunyi?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" y="1600200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37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039112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Tekanan ekonomi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8970" y="20574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7278" y="1600200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3582" y="1737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4438" y="2039112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Kemampuan bayar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16752" y="20574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600200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1364" y="1737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2220" y="2039112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payment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4534" y="20574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22842" y="1600200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9146" y="1737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60002" y="2039112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9496" y="3182112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192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" y="3621024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Persepsi nilai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88970" y="363931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67278" y="3182112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3582" y="33192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04438" y="3621024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Kebutuhan proteksi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16752" y="363931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3182112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1364" y="33192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2220" y="3621024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Word-of-mouth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44534" y="363931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22842" y="3182112"/>
            <a:ext cx="2608326" cy="1069848"/>
          </a:xfrm>
          <a:prstGeom prst="roundRect">
            <a:avLst>
              <a:gd name="adj" fmla="val 11111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9146" y="33192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60002" y="3621024"/>
            <a:ext cx="2334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policies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3232" y="473659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Premi, masa kontrak, klaim, pengalaman layanan dan campaign dapat memengaruhi jalur-jalur di atas.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Korelasi / feature importance tidak membuktikan sebab-akibat. Data eksternal &amp; eksperimen diperlukan.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latihan | granularitas dan struktur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554480"/>
            <a:ext cx="5349240" cy="3566160"/>
          </a:xfrm>
          <a:prstGeom prst="roundRect">
            <a:avLst>
              <a:gd name="adj" fmla="val 333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54480"/>
            <a:ext cx="68580" cy="3566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739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POLICY-MONTH FACT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58568"/>
            <a:ext cx="493776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 · month · active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· product · region · tenure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· complaint · late payment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· renewal_window · stress_index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Label: churn_next_30d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71616" y="1554480"/>
            <a:ext cx="5550408" cy="3566160"/>
          </a:xfrm>
          <a:prstGeom prst="roundRect">
            <a:avLst>
              <a:gd name="adj" fmla="val 333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1554480"/>
            <a:ext cx="68580" cy="3566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773936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ACQUISITION-MONTH FACT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91072" y="2258568"/>
            <a:ext cx="513892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· campaign_active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inbound_leads · new_policies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production add-ons: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quote, website traffic, channel, competitor price, unemployment, Google Trends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data pendamping bersifat sintetis; tidak merepresentasikan nasabah atau hasil perusahaan sebenarnya.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and label design | no leakage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" y="1709928"/>
            <a:ext cx="2608326" cy="1188720"/>
          </a:xfrm>
          <a:prstGeom prst="roundRect">
            <a:avLst>
              <a:gd name="adj" fmla="val 10000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470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148840"/>
            <a:ext cx="23340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8970" y="216712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7278" y="1709928"/>
            <a:ext cx="2608326" cy="1188720"/>
          </a:xfrm>
          <a:prstGeom prst="roundRect">
            <a:avLst>
              <a:gd name="adj" fmla="val 10000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3582" y="18470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4438" y="2148840"/>
            <a:ext cx="23340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≤ 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16752" y="216712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709928"/>
            <a:ext cx="2608326" cy="1188720"/>
          </a:xfrm>
          <a:prstGeom prst="roundRect">
            <a:avLst>
              <a:gd name="adj" fmla="val 10000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1364" y="18470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2220" y="2148840"/>
            <a:ext cx="23340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window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4534" y="216712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22842" y="1709928"/>
            <a:ext cx="2608326" cy="1188720"/>
          </a:xfrm>
          <a:prstGeom prst="roundRect">
            <a:avLst>
              <a:gd name="adj" fmla="val 10000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9146" y="18470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60002" y="2148840"/>
            <a:ext cx="23340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T+30d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7784" y="3374136"/>
            <a:ext cx="5349240" cy="1554480"/>
          </a:xfrm>
          <a:prstGeom prst="roundRect">
            <a:avLst>
              <a:gd name="adj" fmla="val 7647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" y="3374136"/>
            <a:ext cx="6858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5935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BENAR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4078224"/>
            <a:ext cx="4937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Keluhan yang tercatat sebelum scoring → fitur; lapse setelah scoring → label.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53912" y="3374136"/>
            <a:ext cx="5349240" cy="1554480"/>
          </a:xfrm>
          <a:prstGeom prst="roundRect">
            <a:avLst>
              <a:gd name="adj" fmla="val 7647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53912" y="3374136"/>
            <a:ext cx="68580" cy="15544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5935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73368" y="4078224"/>
            <a:ext cx="4937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Alasan berhenti di akhir periode dimasukkan sebagai fitur untuk memprediksi berhenti.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Perhatikan keterlambatan data, grace period, renewal policy, dan overlapping customer windows.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1 | kenaikan premi ≠ churn langsung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/mnt/data/insurance_ml_workshop/churn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1426464"/>
            <a:ext cx="10012680" cy="40050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Interpretasi: periksa delay effect, renewal schedule, ketahanan pelanggan dan perubahan risiko ekonomi.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2 | campaign tidak selalu menjelaskan demand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0" descr="/mnt/data/insurance_ml_workshop/acquisition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380744"/>
            <a:ext cx="100584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Kenaikan akuisisi bisa dipengaruhi faktor yang tidak tercatat. Hindari mengklaim campaign menyebabkan spike.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yang harus dikerjakan mahasiswa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96696" y="1490472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Segmentasi: churn rate menurut product × income_band × tenure × region.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" y="231343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96696" y="2313432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analysis: pelanggan masuk per bulan dan survival / retention-nya.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" y="313639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96696" y="3136392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study: bandingkan trend sebelum/sesudah premi +10%, dengan kontrol jika tersedia.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" y="395935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96696" y="3959352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analysis: apakah complaint, pembayaran terlambat, dan renewal mendahului churn?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4088" y="478231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96696" y="4782312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decomposition: traffic × conversion × eligibility × product mix.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 | dari raw data ke sinyal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581912"/>
            <a:ext cx="5358384" cy="3557016"/>
          </a:xfrm>
          <a:prstGeom prst="roundRect">
            <a:avLst>
              <a:gd name="adj" fmla="val 3342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81912"/>
            <a:ext cx="68580" cy="3557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01368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86000"/>
            <a:ext cx="4946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late_payment_3m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complaint_90d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claim_frequency_6m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contact_recency_days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months_to_renewal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17336" y="1581912"/>
            <a:ext cx="5504688" cy="3557016"/>
          </a:xfrm>
          <a:prstGeom prst="roundRect">
            <a:avLst>
              <a:gd name="adj" fmla="val 3342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17336" y="1581912"/>
            <a:ext cx="68580" cy="3557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8013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&amp; CHANGE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36792" y="2286000"/>
            <a:ext cx="50932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premium_change_pct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premium_to_income_ratio (jika tersedia)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macro_index_by_region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tenure_segment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rolling_churn_rate_3m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fitur harus dihitung hanya dari data yang tersedia pada waktu prediksi.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dan development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581912"/>
            <a:ext cx="5367528" cy="3602736"/>
          </a:xfrm>
          <a:prstGeom prst="roundRect">
            <a:avLst>
              <a:gd name="adj" fmla="val 3299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81912"/>
            <a:ext cx="68580" cy="36027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01368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PYTHON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86000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3.11+ · JupyterLab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· pandas · matplotlib · seaborn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 · scipy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pyarrow · joblib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17336" y="1581912"/>
            <a:ext cx="5504688" cy="3602736"/>
          </a:xfrm>
          <a:prstGeom prst="roundRect">
            <a:avLst>
              <a:gd name="adj" fmla="val 3299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17336" y="1581912"/>
            <a:ext cx="68580" cy="36027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8013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/ OPTIONAL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36792" y="2286000"/>
            <a:ext cx="50932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· imbalanced-learn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statsmodels · lifelines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ruptures · xgboost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· evidently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minimum: CPU 8 GB RAM. Tidak membutuhkan GPU untuk dataset sintetis ini.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modeling | simple before sophisticated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" y="1728216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653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167128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8970" y="2185416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7278" y="1728216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3582" y="18653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4438" y="2167128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16752" y="2185416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728216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1364" y="18653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2220" y="2167128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baseline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4534" y="2185416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22842" y="1728216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9146" y="18653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60002" y="2167128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9496" y="3273552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10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" y="3712464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proba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88970" y="373075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67278" y="3273552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3582" y="3410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04438" y="3712464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PR-AUC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16752" y="373075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3273552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1364" y="3410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2220" y="3712464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Top-decile lift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44534" y="373075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22842" y="3273552"/>
            <a:ext cx="2608326" cy="1143000"/>
          </a:xfrm>
          <a:prstGeom prst="roundRect">
            <a:avLst>
              <a:gd name="adj" fmla="val 10400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9146" y="34107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60002" y="3712464"/>
            <a:ext cx="233400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threshold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model atas dasar data masa depan, kalibrasi, manfaat bisnis, fairness, dan kemampuan dijelaskan.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test | hindari random split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618488"/>
            <a:ext cx="5394960" cy="3200400"/>
          </a:xfrm>
          <a:prstGeom prst="roundRect">
            <a:avLst>
              <a:gd name="adj" fmla="val 3714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618488"/>
            <a:ext cx="6858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3794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TRAIN: JAN 2025 – JAN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322576"/>
            <a:ext cx="498348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Belajar dari periode lama.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Nasabah yang sama bisa memiliki banyak monthly snapshot.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rolling backtest sebagai pengembangan.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912" y="1618488"/>
            <a:ext cx="5394960" cy="3200400"/>
          </a:xfrm>
          <a:prstGeom prst="roundRect">
            <a:avLst>
              <a:gd name="adj" fmla="val 3714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3912" y="1618488"/>
            <a:ext cx="68580" cy="3200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83794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OUT-OF-TIME: FEB – OCT 2026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368" y="2322576"/>
            <a:ext cx="498348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robustness setelah perubahan ekonomi dan harga.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Dalam produksi: tambah gap sesuai horizon label agar overlap tidak bocor.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demo memiliki target 30 hari yang disimulasikan; tanggal akhir dan observasi label harus dipastikan dalam data riil.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eksperimen | kompleksitas bukan jaminan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" y="1609344"/>
            <a:ext cx="10972800" cy="612648"/>
          </a:xfrm>
          <a:prstGeom prst="roundRect">
            <a:avLst>
              <a:gd name="adj" fmla="val 19403"/>
            </a:avLst>
          </a:prstGeom>
          <a:solidFill>
            <a:srgbClr val="245070"/>
          </a:solidFill>
          <a:ln w="12700">
            <a:solidFill>
              <a:srgbClr val="245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099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4840" y="17099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0" y="17099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85216" y="2350008"/>
            <a:ext cx="10972800" cy="612648"/>
          </a:xfrm>
          <a:prstGeom prst="roundRect">
            <a:avLst>
              <a:gd name="adj" fmla="val 19403"/>
            </a:avLst>
          </a:prstGeom>
          <a:solidFill>
            <a:srgbClr val="1B324C"/>
          </a:solidFill>
          <a:ln w="12700">
            <a:solidFill>
              <a:srgbClr val="1B3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505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34840" y="24505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0.6073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24505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0.5782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85216" y="3090672"/>
            <a:ext cx="10972800" cy="612648"/>
          </a:xfrm>
          <a:prstGeom prst="roundRect">
            <a:avLst>
              <a:gd name="adj" fmla="val 19403"/>
            </a:avLst>
          </a:prstGeom>
          <a:solidFill>
            <a:srgbClr val="1A2C44"/>
          </a:solidFill>
          <a:ln w="12700">
            <a:solidFill>
              <a:srgbClr val="1A2C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912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34840" y="3191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0.0605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31912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0.0520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85216" y="3831336"/>
            <a:ext cx="10972800" cy="612648"/>
          </a:xfrm>
          <a:prstGeom prst="roundRect">
            <a:avLst>
              <a:gd name="adj" fmla="val 19403"/>
            </a:avLst>
          </a:prstGeom>
          <a:solidFill>
            <a:srgbClr val="1B324C"/>
          </a:solidFill>
          <a:ln w="12700">
            <a:solidFill>
              <a:srgbClr val="1B32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319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churn rate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34840" y="39319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3.57%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0" y="39319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3.57%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sintetis | ROC-AUC ≈ 0.6 masih lemah; model belum layak deployment tanpa improvement dan validasi.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Precision–Recall | metrik untuk churn langka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Image 0" descr="/mnt/data/insurance_ml_workshop/p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826" y="1435608"/>
            <a:ext cx="6046748" cy="3968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70064" y="1673352"/>
            <a:ext cx="4160520" cy="3383280"/>
          </a:xfrm>
          <a:prstGeom prst="roundRect">
            <a:avLst>
              <a:gd name="adj" fmla="val 3514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70064" y="1673352"/>
            <a:ext cx="68580" cy="3383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892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PR-AUC?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89520" y="2377440"/>
            <a:ext cx="374904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class hanya 3.57%.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baseline PR-AUC ≈ 0.0357.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PR-AUC = 0.0520.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precision pada kapasitas kontak.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boleh dilaporkan, namun PR-AUC, lift, calibration, dan cost-based utility lebih operasional.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Decile lift | siapa yang dihubungi dulu?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Image 0" descr="/mnt/data/insurance_ml_workshop/decile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65681"/>
            <a:ext cx="6958584" cy="382722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08392" y="1709928"/>
            <a:ext cx="3867912" cy="3172968"/>
          </a:xfrm>
          <a:prstGeom prst="roundRect">
            <a:avLst>
              <a:gd name="adj" fmla="val 3746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08392" y="1709928"/>
            <a:ext cx="68580" cy="31729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7848" y="192938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10% RISIKO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27848" y="2414016"/>
            <a:ext cx="34564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Precision@10% = 6.51%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Recall@10% = 18.22%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= 1.82× vs acak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Masih banyak false alarms.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Kapasitas call center, expected loss, dan biaya intervensi menentukan cutoff yang masuk akal.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explanation | sinyal ≠ penyebab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pic>
        <p:nvPicPr>
          <p:cNvPr id="7" name="Image 0" descr="/mnt/data/insurance_ml_workshop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" y="1399032"/>
            <a:ext cx="7026250" cy="41330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54696" y="1664208"/>
            <a:ext cx="3675888" cy="3474720"/>
          </a:xfrm>
          <a:prstGeom prst="roundRect">
            <a:avLst>
              <a:gd name="adj" fmla="val 3421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54696" y="1664208"/>
            <a:ext cx="68580" cy="3474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74152" y="1883664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BATAS INTERPRETASI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74152" y="2368296"/>
            <a:ext cx="3264408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menunjukkan variabel yang dipakai model, bukan dampak kebijakan.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permutation importance / SHAP dan cek stability by cohort.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importance jenis impurity bias terhadap variabel kontinu / high-cardinality.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premi +10% tidak langsung memicu churn?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58191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10469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Switching friction: proses pindah / berhenti membutuhkan usaha dan keputusan.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368296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2368296"/>
            <a:ext cx="10469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timing: harga berubah sekarang tetapi keputusan dibuat saat pembaruan.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315468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10469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value: proteksi dinilai lebih bernilai daripada kenaikan harga.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" y="3941064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" y="3941064"/>
            <a:ext cx="10469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Delayed budget stress: dampak tekanan ekonomi baru muncul setelah beberapa bulan.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3232" y="472744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5840" y="4727448"/>
            <a:ext cx="10469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Survivorship / mix shift: sebagian cohort berisiko mungkin sudah keluar sebelumnya.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poin adalah HIPOTESIS; perlu data tambahan dan pengujian, bukan jawaban pasti dari model.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churn tiba-tiba melonjak?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7784" y="1572768"/>
            <a:ext cx="5321808" cy="3493008"/>
          </a:xfrm>
          <a:prstGeom prst="roundRect">
            <a:avLst>
              <a:gd name="adj" fmla="val 340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1572768"/>
            <a:ext cx="68580" cy="3493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92224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SIGNALS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76856"/>
            <a:ext cx="4910328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cluster × payment difficulty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increase × unresolved cases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stress by geography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/ policy admin changes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offers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35624" y="1572768"/>
            <a:ext cx="5468112" cy="3493008"/>
          </a:xfrm>
          <a:prstGeom prst="roundRect">
            <a:avLst>
              <a:gd name="adj" fmla="val 3403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35624" y="1572768"/>
            <a:ext cx="68580" cy="3493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792224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TO TEST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276856"/>
            <a:ext cx="505663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cohort retention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Segmented change-point detection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Lagged feature trends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investigation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group / difference-in-differences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hanya bisa melihat variabel yang dikumpulkan. Unknown unknowns memerlukan penelitian dan instrumentation.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akuisisi meningkat di luar campaign?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04104" cy="3630168"/>
          </a:xfrm>
          <a:prstGeom prst="roundRect">
            <a:avLst>
              <a:gd name="adj" fmla="val 3275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68580" cy="3630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7393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PREDIKSI AKUISISI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2258568"/>
            <a:ext cx="49926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lead → policy funnel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by region/product/channel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Features: ad spend, search trends, seasonality, weather/event, competitor pricing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residual / anomaly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49824" cy="3630168"/>
          </a:xfrm>
          <a:prstGeom prst="roundRect">
            <a:avLst>
              <a:gd name="adj" fmla="val 3275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554480"/>
            <a:ext cx="68580" cy="3630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773936"/>
            <a:ext cx="5038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PENYEBAB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91656" y="2258568"/>
            <a:ext cx="50383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 source attribution &amp; referral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organic search &amp; word-of-mouth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exposed vs holdout for campaign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incrementality, jangan hanya mengaitkan waktu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acquisition demo hanya agregat bulanan; terlalu kecil untuk menyimpulkan penyebab atau membangun model andal.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prediction to business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" y="1645920"/>
            <a:ext cx="2608326" cy="1133856"/>
          </a:xfrm>
          <a:prstGeom prst="roundRect">
            <a:avLst>
              <a:gd name="adj" fmla="val 10484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084832"/>
            <a:ext cx="23340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8970" y="21031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7278" y="1645920"/>
            <a:ext cx="2608326" cy="1133856"/>
          </a:xfrm>
          <a:prstGeom prst="roundRect">
            <a:avLst>
              <a:gd name="adj" fmla="val 10484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3582" y="17830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4438" y="2084832"/>
            <a:ext cx="23340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16752" y="21031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645920"/>
            <a:ext cx="2608326" cy="1133856"/>
          </a:xfrm>
          <a:prstGeom prst="roundRect">
            <a:avLst>
              <a:gd name="adj" fmla="val 10484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1364" y="17830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2220" y="2084832"/>
            <a:ext cx="23340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policy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4534" y="21031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22842" y="1645920"/>
            <a:ext cx="2608326" cy="1133856"/>
          </a:xfrm>
          <a:prstGeom prst="roundRect">
            <a:avLst>
              <a:gd name="adj" fmla="val 10484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9146" y="17830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60002" y="2084832"/>
            <a:ext cx="23340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test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5358384" cy="1719072"/>
          </a:xfrm>
          <a:prstGeom prst="roundRect">
            <a:avLst>
              <a:gd name="adj" fmla="val 6915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46704"/>
            <a:ext cx="68580" cy="171907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56616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" y="4050792"/>
            <a:ext cx="49469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 + high CLV → assisted outreach; service recovery; renewal reminder.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44768" y="3346704"/>
            <a:ext cx="5367528" cy="1719072"/>
          </a:xfrm>
          <a:prstGeom prst="roundRect">
            <a:avLst>
              <a:gd name="adj" fmla="val 6915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3346704"/>
            <a:ext cx="68580" cy="1719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356616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64224" y="4050792"/>
            <a:ext cx="49560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with unexplained lift → investigate attribution; test incremental campaigns.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metric: incremental retention / net value, bukan sekadar semakin banyak orang diberi diskon.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decisioning | jangan optimasi AUC saja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5385816" cy="3529584"/>
          </a:xfrm>
          <a:prstGeom prst="roundRect">
            <a:avLst>
              <a:gd name="adj" fmla="val 3368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72768"/>
            <a:ext cx="68580" cy="35295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92224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EXPECTED BENEFIT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2276856"/>
            <a:ext cx="497433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P(churn) × treatment effect × customer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treatment cost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contact / operational cost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P(churn) tinggi tidak selalu berarti mudah diselamatkan.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912" y="1572768"/>
            <a:ext cx="5385816" cy="3529584"/>
          </a:xfrm>
          <a:prstGeom prst="roundRect">
            <a:avLst>
              <a:gd name="adj" fmla="val 3368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3912" y="1572768"/>
            <a:ext cx="68580" cy="35295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792224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368" y="2276856"/>
            <a:ext cx="497433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Randomized control vs treatment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incremental retention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rules &amp; compliance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Re-evaluate cost / uplift each period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protected-attribute discrimination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Prioritaskan uplift modeling setelah treatment data dan eksperimen memadai.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ML |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" y="160934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465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04825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events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8970" y="2066544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7278" y="160934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3582" y="17465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4438" y="204825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features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16752" y="2066544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60934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1364" y="17465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2220" y="204825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scoring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4534" y="2066544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22842" y="160934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9146" y="17465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60002" y="204825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9496" y="325526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92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" y="369417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/ agent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88970" y="3712464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67278" y="325526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3582" y="3392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04438" y="369417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16752" y="3712464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325526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1E3A57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1364" y="3392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2220" y="369417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outcomes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44534" y="3712464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22842" y="3255264"/>
            <a:ext cx="2608326" cy="1170432"/>
          </a:xfrm>
          <a:prstGeom prst="roundRect">
            <a:avLst>
              <a:gd name="adj" fmla="val 10156"/>
            </a:avLst>
          </a:prstGeom>
          <a:solidFill>
            <a:srgbClr val="23335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9146" y="339242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60002" y="3694176"/>
            <a:ext cx="2334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monitoring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Prinsip: reproducibility, versioned model, logging, security/PII, and human approval for sensitive actions.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| 5 indikator wajib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1545336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96696" y="15453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quality: null rate, delayed feeds, duplicate IDs, schema changes.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" y="2386584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96696" y="2386584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quality: PR-AUC, precision@K, lift@K, calibration.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322783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96696" y="322783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stability: PSI / distribution drift by month and region.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" y="406908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96696" y="4069080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Business: incremental retained premium, complaint rate, conversion, action cost.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" y="491032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96696" y="4910328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Governance: consent, privacy, explainability, fairness, model rollback.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lab | tugas kelompok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04104" cy="3520440"/>
          </a:xfrm>
          <a:prstGeom prst="roundRect">
            <a:avLst>
              <a:gd name="adj" fmla="val 3377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68580" cy="3520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7393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 &amp;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2258568"/>
            <a:ext cx="499262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Buat data dictionary + EDA top 5 chart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Plot churn dan akuisisi timeline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Rumuskan minimal 5 hipotesis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Feature engineering dan audit leakage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1554480"/>
            <a:ext cx="5404104" cy="3520440"/>
          </a:xfrm>
          <a:prstGeom prst="roundRect">
            <a:avLst>
              <a:gd name="adj" fmla="val 3377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1344" y="1554480"/>
            <a:ext cx="68580" cy="3520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7393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 &amp;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58568"/>
            <a:ext cx="499262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Train baseline + tree classifier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Evaluasi temporal dan capacity@K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Jelaskan dua false positives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Usulkan 2 eksperimen bisnis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notebook reproducible, model artifact, dashboard 1 halaman, dan pitch 5 menit.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rubric | hasil akhir kelas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" y="1563624"/>
            <a:ext cx="10835640" cy="594360"/>
          </a:xfrm>
          <a:prstGeom prst="roundRect">
            <a:avLst>
              <a:gd name="adj" fmla="val 20000"/>
            </a:avLst>
          </a:prstGeom>
          <a:solidFill>
            <a:srgbClr val="203653"/>
          </a:solidFill>
          <a:ln w="12700">
            <a:solidFill>
              <a:srgbClr val="203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733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framing + hypothesis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0" y="167335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30936" y="2286000"/>
            <a:ext cx="10835640" cy="594360"/>
          </a:xfrm>
          <a:prstGeom prst="roundRect">
            <a:avLst>
              <a:gd name="adj" fmla="val 20000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95728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Data/label/leakage/EDA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332720" y="239572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0936" y="3008376"/>
            <a:ext cx="10835640" cy="594360"/>
          </a:xfrm>
          <a:prstGeom prst="roundRect">
            <a:avLst>
              <a:gd name="adj" fmla="val 20000"/>
            </a:avLst>
          </a:prstGeom>
          <a:solidFill>
            <a:srgbClr val="203653"/>
          </a:solidFill>
          <a:ln w="12700">
            <a:solidFill>
              <a:srgbClr val="203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118104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+ modeling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32720" y="311810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30936" y="3730752"/>
            <a:ext cx="10835640" cy="594360"/>
          </a:xfrm>
          <a:prstGeom prst="roundRect">
            <a:avLst>
              <a:gd name="adj" fmla="val 20000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4048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+ action design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332720" y="384048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30936" y="4453128"/>
            <a:ext cx="10835640" cy="594360"/>
          </a:xfrm>
          <a:prstGeom prst="roundRect">
            <a:avLst>
              <a:gd name="adj" fmla="val 20000"/>
            </a:avLst>
          </a:prstGeom>
          <a:solidFill>
            <a:srgbClr val="203653"/>
          </a:solidFill>
          <a:ln w="12700">
            <a:solidFill>
              <a:srgbClr val="203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562856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/ reproducibility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32720" y="456285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Bonus: calibration + confidence intervals + causal experiment design + survival modeling.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BEHAVIOR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| 3 takeaways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6510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ML WORKSHOP  •  SYNTHETIC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38728" cy="3072384"/>
          </a:xfrm>
          <a:prstGeom prst="roundRect">
            <a:avLst>
              <a:gd name="adj" fmla="val 3869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68580" cy="30723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110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2395728"/>
            <a:ext cx="312724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Siapa berpotensi churn, kapan, dan seberapa yakin?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538728" cy="3072384"/>
          </a:xfrm>
          <a:prstGeom prst="roundRect">
            <a:avLst>
              <a:gd name="adj" fmla="val 3869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691640"/>
            <a:ext cx="68580" cy="30723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9110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35424" y="2395728"/>
            <a:ext cx="312724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Sinyal mana terkait risiko, dan faktor apa yang belum diobservasi?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538728" cy="3072384"/>
          </a:xfrm>
          <a:prstGeom prst="roundRect">
            <a:avLst>
              <a:gd name="adj" fmla="val 3869"/>
            </a:avLst>
          </a:prstGeom>
          <a:solidFill>
            <a:srgbClr val="192B46"/>
          </a:solidFill>
          <a:ln w="12700">
            <a:solidFill>
              <a:srgbClr val="192B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691640"/>
            <a:ext cx="68580" cy="30723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9110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&amp; LEARN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02752" y="2395728"/>
            <a:ext cx="312724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Tindakan mana yang menciptakan manfaat incremental terbukti?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5715000"/>
            <a:ext cx="11064240" cy="548640"/>
          </a:xfrm>
          <a:prstGeom prst="roundRect">
            <a:avLst>
              <a:gd name="adj" fmla="val 21667"/>
            </a:avLst>
          </a:prstGeom>
          <a:solidFill>
            <a:srgbClr val="223A50"/>
          </a:solidFill>
          <a:ln w="12700">
            <a:solidFill>
              <a:srgbClr val="22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815584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ML is not just accurate prediction—it is better, testable decision-making.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Intelligence | Insurance Machine Learning</dc:title>
  <dc:subject>Insurance churn and acquisition case study</dc:subject>
  <dc:creator>Machine Learning Workshop</dc:creator>
  <cp:lastModifiedBy>Machine Learning Workshop</cp:lastModifiedBy>
  <cp:revision>1</cp:revision>
  <dcterms:created xsi:type="dcterms:W3CDTF">2026-10-21T13:41:36Z</dcterms:created>
  <dcterms:modified xsi:type="dcterms:W3CDTF">2026-10-21T13:41:36Z</dcterms:modified>
</cp:coreProperties>
</file>