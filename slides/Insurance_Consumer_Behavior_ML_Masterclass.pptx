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Pembukaan 5 menit. Minta peserta membedakan tiga pertanyaan: siapa akan churn, kapan permintaan berubah, dan apa penyebabnya. Semua data dibuat untuk pembelajaran. Tidak ada klaim hubungan dengan perusahaan teknologi tertentu atau hasil bisnis nyata. Sebelum menampilkan model, minta dua hipotesis per kelompok. Tekankan bahwa senioritas analisis terlihat dari definisi target, kualitas bukti dan keputusan yang dapat diuji.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Latihan 10 menit. Buat tabel fenomena, hipotesis, data yang dibutuhkan dan cara menguji. Tetap bertahan bisa timbul akibat friksi pindah, kebutuhan proteksi, autodebit atau jadwal kontrak. Tidak ada respons langsung tidak sama dengan efek harga nol; terlebih tanpa kontrol dan ukuran ketidakpastian yang tepat.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Empat sesi masing-masing empat jam. Sesi pertama framing dan EDA; sesi kedua fitur dan baseline; sesi ketiga model dan evaluasi; sesi keempat interpretasi, akuisisi, skenario dan presentasi. Peserta harus menyerahkan artefak pada setiap tahap. Detail waktu dan rubrik terdapat di docs/LEARNING_PATH.md.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Lakukan pretest singkat: hitung churn dari 30 pelanggan keluar dengan 1000 aktif; bedakan jumlah dan rate; tunjukkan mengapa accuracy 97% bisa diperoleh tanpa menangkap satu pun churn. Remediasi diberikan lewat notebook pandas sebelum melatih model.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Tunjukkan setup virtual environment di README. Lingkungan ini diuji dengan Python dan versi library yang tercatat pada manifest. Peserta memakai requirements-lock.txt bila versi Python kompatibel; gunakan requirements.txt untuk instalasi lintas versi yang didukung. Dependensi advanced seperti SHAP, survival dan experiment tracking dijelaskan sebagai pengembangan, tidak dibutuhkan untuk tutorial inti.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Contoh: snapshot 1 April memakai fitur sampai 31 Maret. Target adalah kejadian selama 1 April sampai sebelum 1 Mei. Label baru lengkap pada 1 Mei. Karena bulan berbeda panjang, jangan menyebutnya 30 hari secara persis. Definisi lapse nyata perlu disepakati dengan tim aktuaria dan operasional sebelum proyek produksi.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Diskusikan confounding: tekanan ekonomi dapat memengaruhi kemampuan bayar dan pencarian proteksi. Premi naik serentak dengan kalender sehingga fitur premium_change_pct tidak dapat memisahkan efek harga dari semua kejadian waktu. Tanyakan data apa yang bisa mematahkan hipotesis, bukan hanya mendukungnya. Lihat pedoman pengajar setelah peserta mengerjakan EDA.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Jalankan audit_policy_data dan baca artifacts/data_audit.json. Pemeriksaan timestamp adalah kontrak data, bukan jaminan bahwa setiap sumber benar. Dalam produksi diperlukan audit event_time, ingestion_time, dan tanggal rilis setiap sumber. Revisi data makro dapat menimbulkan look-ahead bias bila nilai terbaru dipakai untuk snapshot lama.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Tanyakan apakah missingness acak atau terkait channel/segmen. Dalam simulasi missingness dibuat acak. Median dan most_frequent dipelajari dari train di dalam pipeline. Jangan fit imputer pada seluruh dataset lalu melakukan split. Distribusi tenure memuat pelanggan lama pada awal observasi dan cohort baru yang masuk kemudian.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Baca tiga periode sebelum harga, segera setelah harga dan periode lonjakan. Grafik bukan uji kausal dan tidak menyatakan tidak signifikan secara statistik. Jelaskan survivorship: orang yang sudah churn tidak bisa muncul lagi, sehingga komposisi survivor berubah. Bedakan churn musiman, perubahan administrasi label, dan perubahan perilaku nyata.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Periksa jumlah sampel setiap segmen. Lanjutkan dengan membandingkan pola di bulan yang berbeda dan income_band. Segmentasi ini deskriptif; nasabah dengan tunggakan tidak identik dengan nasabah tanpa tunggakan. Hindari menyimpulkan bahwa menghilangkan tunggakan secara otomatis akan menghasilkan penurunan churn sesuai selisih rate.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Heatmap memakai product-limit dari rate churn per tenure. Hanya inception cohort digunakan. Sel yang semua anggota cohort belum punya kesempatan follow-up lengkap disembunyikan. Sel kosong bukan retention nol. Kolom pertama adalah bertahan di akhir bulan pertama, bukan snapshot inception. Jelaskan left truncation pada cohort lama dan mengapa mereka tidak boleh disamakan dengan cohort baru.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Jangan bandingkan besar z-score seolah satuannya sama secara bisnis. Agregat bulanan dapat dipengaruhi komposisi pelanggan. Untuk produksi, bentuk window 30/90 hari dari event timestamp dan simpan lineage fitur. Untuk challenge, bandingkan effect lag dengan model dan segmen, tanpa memilih lag berdasarkan final test.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Acquisition dataset adalah simulasi analitis terpisah dari cohort polis; bukan buku besar yang direkonsiliasi satu-ke-satu. Tunjukkan kenaikan lead/referral dan kapan polis baru ikut naik. Kolom inbound_leads adalah activity minggu tersebut, bukan conversion denominator cohort yang matang. Jangan menyebut rasio new_policies/inbound_leads sebagai conversion cohort sebenarnya.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Lag 2 berarti campaign dua minggu sebelumnya dibandingkan penjualan sekarang. Campaign dijadwalkan periodik, sehingga korelasi beberapa lag dapat terbentuk tanpa bukti kausal. Jika menguji banyak lag pada data nyata, gunakan holdout, kontrol kalender dan desain eksperimen; jangan memilih p-value terendah sebagai jawaban.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Simulator menghasilkan agregat historis secara langsung sebelum outcome draw. Dua fitur turunan berada di engineer_policy_features. Ini tidak menggantikan pembangunan ETL dari transaksi pembayaran nyata. Aktivitas sebelum inception dikeluarkan dari rolling counts. Pendapatan dalam produksi mungkin tidak tersedia atau tidak andal; uji model tanpa fitur ini dan evaluasi dampak per segmen.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 split membocorkan informasi kalender dan kondisi cohort. Pada panel, TimeSeriesSplit per baris juga dapat memisahkan wilayah atau pelanggan pada waktu yang sama. Paket ini membagi berdasarkan kalender eksplisit. Data embargo tidak dipakai untuk fit model, tetapi dapat menjadi riwayat fitur yang memang sudah tersedia pada snapshot selanjutnya.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Parameter kandidat ditentukan sebelum validation dan test. Rolling backtest dipakai sebagai diagnostik historis; pilihan final tetap berdasarkan validation utama. Fold yang belum pernah melihat kenaikan harga tidak dapat belajar efek harga dari data training. Ini contoh nyata distribution shift dan keterbatasan observasi, bukan alasan untuk menyisipkan outcome masa depan.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Buka modeling.py. ColumnTransformer memisahkan numerik dan kategori. SimpleImputer menangani missing values, StandardScaler membantu logistik dan Poisson, OneHotEncoder menangani kategori tak dikenal. Pipeline disimpan dengan joblib. Jangan memuat artifact joblib dari sumber tak dipercaya. Infrastruktur CRM, feature store dan monitoring dalam diagram adalah rancangan berikutnya, bukan integrasi produksi yang sudah aktif.</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Jelaskan logit p = beta0 + beta x dan sigmoid p = 1/(1+exp(-z)). HGB menggunakan max_leaf_nodes=15, min_samples_leaf=55, L2=8 dan 130 iterasi. Early stopping random internal dimatikan agar tidak mengganti strategi waktu. Hyperparameter fixed bukan hasil pencarian final test. GPU dan deep learning tidak diperlukan untuk ukuran dan jenis data ini.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Contoh 1000 nasabah dan 30 churn: prediksi semua bertahan memberi accuracy 97% tetapi recall churn nol. Precision adalah true positive dibagi semua yang dihubungi; recall adalah true positive dibagi seluruh churn; lift membandingkan precision dengan prevalensi. Skor probabilitas perlu diperiksa dengan reliability diagram dan Brier sebelum dipakai untuk nilai harapan.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Angka di slide ini diambil otomatis dari run_summary.json. Perhatikan model terpilih ditentukan oleh validation, sehingga hasil test tidak selalu menjadi model dengan nilai tertinggi di antara semua kandidat. Itu perilaku evaluasi yang sehat. Jika hasil test buruk, laporkan sebagai temuan dan rancang iterasi dengan holdout baru, bukan memilih model ulang berdasarkan test.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Pada PR curve, precision baseline mendekati prevalensi. Metrik berubah ketika prevalensi berubah, sehingga bandingkan antar waktu dengan konteks base rate. ROC-AUC relatif kurang sensitif pada prevalensi namun tidak menjawab kapasitas call center. Jangan mengubah threshold setelah melihat final test untuk mempercantik confusion matrix.</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Kelompok dengan rata-rata prediksi 0.2 seharusnya memiliki churn sekitar 20% bila model terkalibrasi. Deviasi dari diagonal dapat berasal dari distribution shift, model misspecification atau data sedikit. Bila ingin melakukan sigmoid/isotonic calibration, siapkan periode kalibrasi khusus atau cross-validation temporal di development data, dan evaluasi lagi pada holdout baru.</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Ranking dilakukan setiap bulan untuk menghindari mengalokasikan kapasitas periode sekarang memakai skor dari masa depan. ceil memastikan sedikitnya satu orang ketika dataset kecil. Ikatan skor dipecahkan dengan customer_id secara deterministik; pada baseline prevalensi ini hanya aturan acak semu, bukan kemampuan prediksi.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Threshold tetap memakai quantile 90% skor validation. Ini bukan aturan top10 bulanan yang dipakai metrik capacity. Analisis false positive: apakah berisiko tetapi tidak churn karena faktor lain? False negative: faktor apa belum diobservasi? Buka churn_test_predictions.csv dan pilih masing-masing dua kasus untuk diskusi tanpa menganggap model mengetahui alasan sebenarnya.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Bootstrap baris menganggap snapshot orang yang sama independen. Bootstrap customer mengurangi masalah tersebut, tetapi customer dalam bulan sama masih terkena shock bersama. Analisis lanjutan dapat memakai block bootstrap waktu atau evaluasi beberapa periode independen. Interval tidak boleh disalahartikan sebagai probabilitas bahwa efek kampanye bersifat kausal.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Permutation importance mengacak satu kolom lalu mengukur penurunan AP. Error bar adalah standar deviasi empat pengulangan, bukan confidence interval kausal. Fitur berkorelasi dapat menyebabkan importance dibagi atau tampak kecil. Mengacak fitur yang saling bergantung juga dapat membuat kombinasi tak realistis. Gunakan hasilnya sebagai diagnosis model, bukan instruksi mengubah kebijakan harga.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Hasil pembelajaran terbaik adalah daftar hipotesis yang bisa dibantah. Pilih satu hipotesis, tentukan outcome dan kontrol, lalu jelaskan pengamatan apa yang akan membuat tim meninggalkan hipotesis itu. Tindakan meningkatkan layanan mungkin tetap layak diuji walaupun mekanisme churn belum diketahui secara lengkap.</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Jelaskan distribusi Poisson sebagai model hitungan dengan log mean. Dalam data nyata overdispersion dan zero inflation mungkin perlu model lain. MAE region-week berbeda dari MAE penjumlahan mingguan, karena error antarwilayah bisa saling mengimbangi. Paket memilih model berdasarkan MAE total validation sesuai keputusan kapasitas nasional.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Skor yang baik tidak mengungkap sebab minat organik. Tanyakan apakah baseline lag1 cukup kuat dan kapan model lebih lambat merespons perubahan. Jangan menyebut garis ini forecast delapan bulan yang dibuat sekali pada Februari: setiap titik menggunakan observed lag dari minggu sebelumnya. Untuk forecast multi-step, perlu recursive/direct forecasting tanpa actual masa depan.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Lihat acquisition_test_predictions.csv. Flag positif dapat berarti permintaan tak terduga, pencatatan backlog atau kesalahan ETL. Flag negatif bisa berarti gangguan channel atau kualitas lead. Pelajari residual per wilayah karena skala volume berbeda. Jika ingin jaminan coverage, pelajari conformal forecasting dengan asumsi temporal yang eksplisit sebagai materi advanced.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Suggested_review pada tabel prediksi adalah aturan sederhana yang transparan, bukan treatment recommendation teroptimasi. Intervensi harus dipilih dengan tim operasional dan dievaluasi menggunakan randomisasi. Jangan menyamakan tinggi risiko dengan pelanggan layak ditolak; tujuan tutorial adalah layanan dan retensi yang bermanfaat.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Margin asumsi adalah 20% dari premi 12 bulan. Biaya kontak Rp15000 dibebankan ke semua nasabah yang dihubungi. Rescue_fraction adalah peluang menyelamatkan seseorang yang akan churn tanpa intervensi, bukan treatment effect terukur. Formula menyederhanakan potensi dampak negatif, discount cost, dan horizon. Kurva sensitivitas membantu menilai kebutuhan bukti sebelum rollout.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Contoh: bandingkan pengingat plus bantuan layanan dengan layanan rutin pada high-risk eligible. Jangan memilih control dari nasabah low-risk. Definisikan kapan outcome matang, hindari menghentikan eksperimen saat hasil kebetulan baik, dan tentukan analisis sebelum outcome dibuka. Power calculation harus mempertimbangkan churn langka dan cluster bila randomisasi berbasis wilayah.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Difference-in-differences memerlukan counterfactual yang masuk akal dan asumsi parallel trends, bukan sekadar membandingkan before-after. Jangan mengklaim feature campaign dalam model Poisson sebagai pengukuran ROI kampanye. Tahap pertama adalah exposure logging yang dapat dipercaya, diikuti desain eksperimen dan power.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disimpan bersama seluruh preprocessing, sehingga pengguna tidak menulis ulang imputasi atau mapping kategori saat scoring. Schema fitur diverifikasi sebelum predict_proba. Contoh inference adalah snapshot historis sintetis, bukan daftar nasabah live. Artifact joblib hanya boleh berasal dari sumber yang dipercaya karena deserialisasi dapat menjalankan kode.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Grafik memakai standardized mean difference, bukan PSI. Fitur yang variance train nol dikeluarkan dari rasio. Drift dapat disebabkan seleksi survivor, perubahan harga, campuran wilayah atau kualitas data. Gunakan metrik bulanan dan subgroup_diagnostics.csv sebagai pemeriksaan pendamping. Ambang alert perlu ditentukan dari toleransi operasional dan data historis.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Perlu pemilik model, pemilik data dan pemilik keputusan. Retrain tidak boleh otomatis hanya karena drift alert. Periksa dulu apakah terjadi masalah ETL, perubahan label atau kondisi bisnis. Data pribadi nyata harus dikelola sesuai tata kelola organisasi dan ketentuan yang berlaku; paket ini hanya memakai data sintetis tanpa identitas nyata.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Gunakan narasi: apa yang terlihat, apa yang dapat diprediksi, apa yang belum diketahui, dan apa yang akan diuji. Jangan menampilkan semua metrik tanpa keputusan. Laporan dashboard.html menyertakan gambar agar bisa dibuka offline; INSIGHTS.md menyimpan narasi detail dan batas analisis. Semua angka dibuat ulang dari hasil pipeline.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Notebook utama menjalankan tahap inti dan memberi pertanyaan setelah output. Notebook challenge berisi tugas tanpa jawaban implementasi. Pengajar menilai proses dan kualitas bukti, bukan mencari AUC terbesar. Wajib laporkan bila model nonlinear kalah terhadap logistik atau baseline; hasil itu dapat menjadi temuan yang baik jika analisisnya benar.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Pertanyaan lisan: mengapa accuracy tidak cukup; kapan label matang; mengapa random split bermasalah; apakah feature importance membuktikan penyebab; apakah forecast satu langkah sama dengan banyak langkah; bagaimana mengukur manfaat retention. Beri kredit untuk hipotesis yang dibatalkan oleh data dan untuk menjelaskan keterbatasan secara tepat.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Hindari memasang seluruh ekosistem advanced sebelum pertanyaan bisnis jelas. Survival berguna ketika waktu event dan censoring menjadi pusat masalah. Uplift memerlukan informasi treatment dan asumsi identifikasi. Experiment tracking bermanfaat ketika kandidat dan tim bertambah, tetapi manifest dan kode bersih cukup untuk laboratorium pertama.</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URL lengkap dan keterangan penggunaan ada di docs/REFERENCES.md. Periksa tanggal publikasi sebelum menggabungkan data makro ke snapshot historis. Akhiri dengan meminta setiap kelompok menyebutkan satu insight yang didukung data, satu hal yang belum diketahui, dan satu eksperimen yang dapat mengurangi ketidakpastian.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INSURANCE BEHAVIOR LAB / MASTERCLASS</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Ketika perilaku nasabah sulit dijelaskan</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01</a:t>
            </a:r>
          </a:p>
        </p:txBody>
      </p:sp>
      <p:sp>
        <p:nvSpPr>
          <p:cNvPr id="7" name="Rectangle 6"/>
          <p:cNvSpPr/>
          <p:nvPr/>
        </p:nvSpPr>
        <p:spPr>
          <a:xfrm>
            <a:off x="594360" y="1865376"/>
            <a:ext cx="5413248" cy="3337560"/>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65376"/>
            <a:ext cx="41148" cy="3337560"/>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039112"/>
            <a:ext cx="5010912" cy="438912"/>
          </a:xfrm>
          <a:prstGeom prst="rect">
            <a:avLst/>
          </a:prstGeom>
          <a:noFill/>
        </p:spPr>
        <p:txBody>
          <a:bodyPr wrap="none" lIns="0" rIns="0" tIns="0" bIns="0">
            <a:spAutoFit/>
          </a:bodyPr>
          <a:lstStyle/>
          <a:p>
            <a:pPr>
              <a:lnSpc>
                <a:spcPct val="118000"/>
              </a:lnSpc>
              <a:spcBef>
                <a:spcPts val="0"/>
              </a:spcBef>
              <a:spcAft>
                <a:spcPts val="0"/>
              </a:spcAft>
              <a:defRPr sz="2000" b="1">
                <a:solidFill>
                  <a:srgbClr val="55DECA"/>
                </a:solidFill>
                <a:latin typeface="DejaVu Sans"/>
              </a:defRPr>
            </a:pPr>
            <a:r>
              <a:t>Misteri bisnis</a:t>
            </a:r>
          </a:p>
        </p:txBody>
      </p:sp>
      <p:sp>
        <p:nvSpPr>
          <p:cNvPr id="10" name="TextBox 9"/>
          <p:cNvSpPr txBox="1"/>
          <p:nvPr/>
        </p:nvSpPr>
        <p:spPr>
          <a:xfrm>
            <a:off x="795528" y="2596896"/>
            <a:ext cx="5010912" cy="2459736"/>
          </a:xfrm>
          <a:prstGeom prst="rect">
            <a:avLst/>
          </a:prstGeom>
          <a:noFill/>
        </p:spPr>
        <p:txBody>
          <a:bodyPr wrap="none" lIns="0" rIns="0" tIns="0" bIns="0">
            <a:spAutoFit/>
          </a:bodyPr>
          <a:lstStyle/>
          <a:p>
            <a:pPr>
              <a:lnSpc>
                <a:spcPct val="118000"/>
              </a:lnSpc>
              <a:spcBef>
                <a:spcPts val="0"/>
              </a:spcBef>
              <a:spcAft>
                <a:spcPts val="0"/>
              </a:spcAft>
              <a:defRPr sz="1800" b="0">
                <a:solidFill>
                  <a:srgbClr val="BDD0E2"/>
                </a:solidFill>
                <a:latin typeface="DejaVu Sans"/>
              </a:defRPr>
            </a:pPr>
            <a:r>
              <a:t>Premi naik 10%, nasabah tetap bertahan.</a:t>
            </a:r>
          </a:p>
          <a:p>
            <a:pPr>
              <a:lnSpc>
                <a:spcPct val="118000"/>
              </a:lnSpc>
              <a:spcBef>
                <a:spcPts val="0"/>
              </a:spcBef>
              <a:spcAft>
                <a:spcPts val="0"/>
              </a:spcAft>
              <a:defRPr sz="1800" b="0">
                <a:solidFill>
                  <a:srgbClr val="BDD0E2"/>
                </a:solidFill>
                <a:latin typeface="DejaVu Sans"/>
              </a:defRPr>
            </a:pPr>
            <a:r>
              <a:t>Beberapa waktu kemudian churn melonjak.</a:t>
            </a:r>
          </a:p>
          <a:p>
            <a:pPr>
              <a:lnSpc>
                <a:spcPct val="118000"/>
              </a:lnSpc>
              <a:spcBef>
                <a:spcPts val="0"/>
              </a:spcBef>
              <a:spcAft>
                <a:spcPts val="0"/>
              </a:spcAft>
              <a:defRPr sz="1800" b="0">
                <a:solidFill>
                  <a:srgbClr val="BDD0E2"/>
                </a:solidFill>
                <a:latin typeface="DejaVu Sans"/>
              </a:defRPr>
            </a:pPr>
            <a:r>
              <a:t>Campaign sepi, lalu pendaftaran ramai.</a:t>
            </a:r>
          </a:p>
        </p:txBody>
      </p:sp>
      <p:sp>
        <p:nvSpPr>
          <p:cNvPr id="11" name="Rectangle 10"/>
          <p:cNvSpPr/>
          <p:nvPr/>
        </p:nvSpPr>
        <p:spPr>
          <a:xfrm>
            <a:off x="6190488" y="1865376"/>
            <a:ext cx="5413248" cy="3337560"/>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865376"/>
            <a:ext cx="41148" cy="3337560"/>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2039112"/>
            <a:ext cx="5010912" cy="438912"/>
          </a:xfrm>
          <a:prstGeom prst="rect">
            <a:avLst/>
          </a:prstGeom>
          <a:noFill/>
        </p:spPr>
        <p:txBody>
          <a:bodyPr wrap="none" lIns="0" rIns="0" tIns="0" bIns="0">
            <a:spAutoFit/>
          </a:bodyPr>
          <a:lstStyle/>
          <a:p>
            <a:pPr>
              <a:lnSpc>
                <a:spcPct val="118000"/>
              </a:lnSpc>
              <a:spcBef>
                <a:spcPts val="0"/>
              </a:spcBef>
              <a:spcAft>
                <a:spcPts val="0"/>
              </a:spcAft>
              <a:defRPr sz="2000" b="1">
                <a:solidFill>
                  <a:srgbClr val="55DECA"/>
                </a:solidFill>
                <a:latin typeface="DejaVu Sans"/>
              </a:defRPr>
            </a:pPr>
            <a:r>
              <a:t>Tugas data scientist</a:t>
            </a:r>
          </a:p>
        </p:txBody>
      </p:sp>
      <p:sp>
        <p:nvSpPr>
          <p:cNvPr id="14" name="TextBox 13"/>
          <p:cNvSpPr txBox="1"/>
          <p:nvPr/>
        </p:nvSpPr>
        <p:spPr>
          <a:xfrm>
            <a:off x="6391656" y="2596896"/>
            <a:ext cx="5010912" cy="2459736"/>
          </a:xfrm>
          <a:prstGeom prst="rect">
            <a:avLst/>
          </a:prstGeom>
          <a:noFill/>
        </p:spPr>
        <p:txBody>
          <a:bodyPr wrap="none" lIns="0" rIns="0" tIns="0" bIns="0">
            <a:spAutoFit/>
          </a:bodyPr>
          <a:lstStyle/>
          <a:p>
            <a:pPr>
              <a:lnSpc>
                <a:spcPct val="118000"/>
              </a:lnSpc>
              <a:spcBef>
                <a:spcPts val="0"/>
              </a:spcBef>
              <a:spcAft>
                <a:spcPts val="0"/>
              </a:spcAft>
              <a:defRPr sz="1800" b="0">
                <a:solidFill>
                  <a:srgbClr val="BDD0E2"/>
                </a:solidFill>
                <a:latin typeface="DejaVu Sans"/>
              </a:defRPr>
            </a:pPr>
            <a:r>
              <a:t>Ubah kebingungan menjadi hipotesis,</a:t>
            </a:r>
          </a:p>
          <a:p>
            <a:pPr>
              <a:lnSpc>
                <a:spcPct val="118000"/>
              </a:lnSpc>
              <a:spcBef>
                <a:spcPts val="0"/>
              </a:spcBef>
              <a:spcAft>
                <a:spcPts val="0"/>
              </a:spcAft>
              <a:defRPr sz="1800" b="0">
                <a:solidFill>
                  <a:srgbClr val="BDD0E2"/>
                </a:solidFill>
                <a:latin typeface="DejaVu Sans"/>
              </a:defRPr>
            </a:pPr>
            <a:r>
              <a:t>sinyal terukur, model yang diuji, dan</a:t>
            </a:r>
          </a:p>
          <a:p>
            <a:pPr>
              <a:lnSpc>
                <a:spcPct val="118000"/>
              </a:lnSpc>
              <a:spcBef>
                <a:spcPts val="0"/>
              </a:spcBef>
              <a:spcAft>
                <a:spcPts val="0"/>
              </a:spcAft>
              <a:defRPr sz="1800" b="0">
                <a:solidFill>
                  <a:srgbClr val="BDD0E2"/>
                </a:solidFill>
                <a:latin typeface="DejaVu Sans"/>
              </a:defRPr>
            </a:pPr>
            <a:r>
              <a:t>keputusan yang dapat</a:t>
            </a:r>
          </a:p>
          <a:p>
            <a:pPr>
              <a:lnSpc>
                <a:spcPct val="118000"/>
              </a:lnSpc>
              <a:spcBef>
                <a:spcPts val="0"/>
              </a:spcBef>
              <a:spcAft>
                <a:spcPts val="0"/>
              </a:spcAft>
              <a:defRPr sz="1800" b="0">
                <a:solidFill>
                  <a:srgbClr val="BDD0E2"/>
                </a:solidFill>
                <a:latin typeface="DejaVu Sans"/>
              </a:defRPr>
            </a:pPr>
            <a:r>
              <a:t>dipertanggungjawabkan.</a:t>
            </a:r>
          </a:p>
        </p:txBody>
      </p:sp>
      <p:sp>
        <p:nvSpPr>
          <p:cNvPr id="15" name="TextBox 14"/>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Paket pembelajaran dengan data sintetis, kode, notebook, visual dan model yang dapat dijalankan.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01 / BUSINESS FRAMING</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Tiga fenomena, tiga pertanyaan berbeda</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02</a:t>
            </a:r>
          </a:p>
        </p:txBody>
      </p:sp>
      <p:sp>
        <p:nvSpPr>
          <p:cNvPr id="7" name="Rectangle 6"/>
          <p:cNvSpPr/>
          <p:nvPr/>
        </p:nvSpPr>
        <p:spPr>
          <a:xfrm>
            <a:off x="594360"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Harga dan ketahanan</a:t>
            </a:r>
          </a:p>
        </p:txBody>
      </p:sp>
      <p:sp>
        <p:nvSpPr>
          <p:cNvPr id="10" name="TextBox 9"/>
          <p:cNvSpPr txBox="1"/>
          <p:nvPr/>
        </p:nvSpPr>
        <p:spPr>
          <a:xfrm>
            <a:off x="795528"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Apakah nasabah menunda keputusan sampai renewal?</a:t>
            </a:r>
          </a:p>
          <a:p>
            <a:pPr>
              <a:lnSpc>
                <a:spcPct val="118000"/>
              </a:lnSpc>
              <a:spcBef>
                <a:spcPts val="0"/>
              </a:spcBef>
              <a:spcAft>
                <a:spcPts val="0"/>
              </a:spcAft>
              <a:defRPr sz="1500" b="0">
                <a:solidFill>
                  <a:srgbClr val="BDD0E2"/>
                </a:solidFill>
                <a:latin typeface="DejaVu Sans"/>
              </a:defRPr>
            </a:pPr>
            <a:r>
              <a:t>Apakah nilai proteksi masih tinggi?</a:t>
            </a:r>
          </a:p>
        </p:txBody>
      </p:sp>
      <p:sp>
        <p:nvSpPr>
          <p:cNvPr id="11" name="Rectangle 10"/>
          <p:cNvSpPr/>
          <p:nvPr/>
        </p:nvSpPr>
        <p:spPr>
          <a:xfrm>
            <a:off x="6190488"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Churn tertunda</a:t>
            </a:r>
          </a:p>
        </p:txBody>
      </p:sp>
      <p:sp>
        <p:nvSpPr>
          <p:cNvPr id="14" name="TextBox 13"/>
          <p:cNvSpPr txBox="1"/>
          <p:nvPr/>
        </p:nvSpPr>
        <p:spPr>
          <a:xfrm>
            <a:off x="6391656"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Apakah tunggakan dan keluhan meningkat sebelum</a:t>
            </a:r>
          </a:p>
          <a:p>
            <a:pPr>
              <a:lnSpc>
                <a:spcPct val="118000"/>
              </a:lnSpc>
              <a:spcBef>
                <a:spcPts val="0"/>
              </a:spcBef>
              <a:spcAft>
                <a:spcPts val="0"/>
              </a:spcAft>
              <a:defRPr sz="1500" b="0">
                <a:solidFill>
                  <a:srgbClr val="BDD0E2"/>
                </a:solidFill>
                <a:latin typeface="DejaVu Sans"/>
              </a:defRPr>
            </a:pPr>
            <a:r>
              <a:t>keputusan berhenti?</a:t>
            </a:r>
          </a:p>
        </p:txBody>
      </p:sp>
      <p:sp>
        <p:nvSpPr>
          <p:cNvPr id="15" name="Rectangle 14"/>
          <p:cNvSpPr/>
          <p:nvPr/>
        </p:nvSpPr>
        <p:spPr>
          <a:xfrm>
            <a:off x="594360"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Akuisisi tak terduga</a:t>
            </a:r>
          </a:p>
        </p:txBody>
      </p:sp>
      <p:sp>
        <p:nvSpPr>
          <p:cNvPr id="18" name="TextBox 17"/>
          <p:cNvSpPr txBox="1"/>
          <p:nvPr/>
        </p:nvSpPr>
        <p:spPr>
          <a:xfrm>
            <a:off x="795528"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Apakah respons campaign tertunda, minat organik</a:t>
            </a:r>
          </a:p>
          <a:p>
            <a:pPr>
              <a:lnSpc>
                <a:spcPct val="118000"/>
              </a:lnSpc>
              <a:spcBef>
                <a:spcPts val="0"/>
              </a:spcBef>
              <a:spcAft>
                <a:spcPts val="0"/>
              </a:spcAft>
              <a:defRPr sz="1500" b="0">
                <a:solidFill>
                  <a:srgbClr val="BDD0E2"/>
                </a:solidFill>
                <a:latin typeface="DejaVu Sans"/>
              </a:defRPr>
            </a:pPr>
            <a:r>
              <a:t>meningkat, atau attribution belum lengkap?</a:t>
            </a:r>
          </a:p>
        </p:txBody>
      </p:sp>
      <p:sp>
        <p:nvSpPr>
          <p:cNvPr id="19" name="Rectangle 18"/>
          <p:cNvSpPr/>
          <p:nvPr/>
        </p:nvSpPr>
        <p:spPr>
          <a:xfrm>
            <a:off x="6190488"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0488"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Jenis jawaban</a:t>
            </a:r>
          </a:p>
        </p:txBody>
      </p:sp>
      <p:sp>
        <p:nvSpPr>
          <p:cNvPr id="22" name="TextBox 21"/>
          <p:cNvSpPr txBox="1"/>
          <p:nvPr/>
        </p:nvSpPr>
        <p:spPr>
          <a:xfrm>
            <a:off x="6391656"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Deskripsi menjelaskan apa; prediksi</a:t>
            </a:r>
          </a:p>
          <a:p>
            <a:pPr>
              <a:lnSpc>
                <a:spcPct val="118000"/>
              </a:lnSpc>
              <a:spcBef>
                <a:spcPts val="0"/>
              </a:spcBef>
              <a:spcAft>
                <a:spcPts val="0"/>
              </a:spcAft>
              <a:defRPr sz="1500" b="0">
                <a:solidFill>
                  <a:srgbClr val="BDD0E2"/>
                </a:solidFill>
                <a:latin typeface="DejaVu Sans"/>
              </a:defRPr>
            </a:pPr>
            <a:r>
              <a:t>memperkirakan risiko; eksperimen menguji dampak.</a:t>
            </a:r>
          </a:p>
        </p:txBody>
      </p:sp>
      <p:sp>
        <p:nvSpPr>
          <p:cNvPr id="23" name="TextBox 22"/>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Jangan memaksa satu model menjawab semua pertanyaan.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02 / ROADMAP 16 JAM</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Learning path yang menghasilkan artefak</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03</a:t>
            </a:r>
          </a:p>
        </p:txBody>
      </p:sp>
      <p:pic>
        <p:nvPicPr>
          <p:cNvPr id="7" name="Picture 6" descr="learning_path.png"/>
          <p:cNvPicPr>
            <a:picLocks noChangeAspect="1"/>
          </p:cNvPicPr>
          <p:nvPr/>
        </p:nvPicPr>
        <p:blipFill>
          <a:blip r:embed="rId2"/>
          <a:stretch>
            <a:fillRect/>
          </a:stretch>
        </p:blipFill>
        <p:spPr>
          <a:xfrm>
            <a:off x="1472844" y="1700784"/>
            <a:ext cx="9215830" cy="4251960"/>
          </a:xfrm>
          <a:prstGeom prst="rect">
            <a:avLst/>
          </a:prstGeom>
        </p:spPr>
      </p:pic>
      <p:sp>
        <p:nvSpPr>
          <p:cNvPr id="8" name="TextBox 7"/>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Business brief → dataset → EDA → model → evaluasi → rekomendasi dan eksperimen.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02 / KOMPETENSI</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Persiapan peserta dan hasil belajar</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04</a:t>
            </a:r>
          </a:p>
        </p:txBody>
      </p:sp>
      <p:sp>
        <p:nvSpPr>
          <p:cNvPr id="7" name="Rectangle 6"/>
          <p:cNvSpPr/>
          <p:nvPr/>
        </p:nvSpPr>
        <p:spPr>
          <a:xfrm>
            <a:off x="594360"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Prasyarat</a:t>
            </a:r>
          </a:p>
        </p:txBody>
      </p:sp>
      <p:sp>
        <p:nvSpPr>
          <p:cNvPr id="10" name="TextBox 9"/>
          <p:cNvSpPr txBox="1"/>
          <p:nvPr/>
        </p:nvSpPr>
        <p:spPr>
          <a:xfrm>
            <a:off x="795528"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Python dasar, fungsi, DataFrame, groupby,</a:t>
            </a:r>
          </a:p>
          <a:p>
            <a:pPr>
              <a:lnSpc>
                <a:spcPct val="118000"/>
              </a:lnSpc>
              <a:spcBef>
                <a:spcPts val="0"/>
              </a:spcBef>
              <a:spcAft>
                <a:spcPts val="0"/>
              </a:spcAft>
              <a:defRPr sz="1500" b="0">
                <a:solidFill>
                  <a:srgbClr val="BDD0E2"/>
                </a:solidFill>
                <a:latin typeface="DejaVu Sans"/>
              </a:defRPr>
            </a:pPr>
            <a:r>
              <a:t>persentase, rata-rata dan grafik.</a:t>
            </a:r>
          </a:p>
        </p:txBody>
      </p:sp>
      <p:sp>
        <p:nvSpPr>
          <p:cNvPr id="11" name="Rectangle 10"/>
          <p:cNvSpPr/>
          <p:nvPr/>
        </p:nvSpPr>
        <p:spPr>
          <a:xfrm>
            <a:off x="6190488"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Kemampuan analisis</a:t>
            </a:r>
          </a:p>
        </p:txBody>
      </p:sp>
      <p:sp>
        <p:nvSpPr>
          <p:cNvPr id="14" name="TextBox 13"/>
          <p:cNvSpPr txBox="1"/>
          <p:nvPr/>
        </p:nvSpPr>
        <p:spPr>
          <a:xfrm>
            <a:off x="6391656"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Audit snapshot, denominator churn, cohort,</a:t>
            </a:r>
          </a:p>
          <a:p>
            <a:pPr>
              <a:lnSpc>
                <a:spcPct val="118000"/>
              </a:lnSpc>
              <a:spcBef>
                <a:spcPts val="0"/>
              </a:spcBef>
              <a:spcAft>
                <a:spcPts val="0"/>
              </a:spcAft>
              <a:defRPr sz="1500" b="0">
                <a:solidFill>
                  <a:srgbClr val="BDD0E2"/>
                </a:solidFill>
                <a:latin typeface="DejaVu Sans"/>
              </a:defRPr>
            </a:pPr>
            <a:r>
              <a:t>interaksi, lag dan censoring.</a:t>
            </a:r>
          </a:p>
        </p:txBody>
      </p:sp>
      <p:sp>
        <p:nvSpPr>
          <p:cNvPr id="15" name="Rectangle 14"/>
          <p:cNvSpPr/>
          <p:nvPr/>
        </p:nvSpPr>
        <p:spPr>
          <a:xfrm>
            <a:off x="594360"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Kemampuan ML</a:t>
            </a:r>
          </a:p>
        </p:txBody>
      </p:sp>
      <p:sp>
        <p:nvSpPr>
          <p:cNvPr id="18" name="TextBox 17"/>
          <p:cNvSpPr txBox="1"/>
          <p:nvPr/>
        </p:nvSpPr>
        <p:spPr>
          <a:xfrm>
            <a:off x="795528"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Pipeline preprocessing, baseline, validation</a:t>
            </a:r>
          </a:p>
          <a:p>
            <a:pPr>
              <a:lnSpc>
                <a:spcPct val="118000"/>
              </a:lnSpc>
              <a:spcBef>
                <a:spcPts val="0"/>
              </a:spcBef>
              <a:spcAft>
                <a:spcPts val="0"/>
              </a:spcAft>
              <a:defRPr sz="1500" b="0">
                <a:solidFill>
                  <a:srgbClr val="BDD0E2"/>
                </a:solidFill>
                <a:latin typeface="DejaVu Sans"/>
              </a:defRPr>
            </a:pPr>
            <a:r>
              <a:t>waktu, AP, lift dan calibration.</a:t>
            </a:r>
          </a:p>
        </p:txBody>
      </p:sp>
      <p:sp>
        <p:nvSpPr>
          <p:cNvPr id="19" name="Rectangle 18"/>
          <p:cNvSpPr/>
          <p:nvPr/>
        </p:nvSpPr>
        <p:spPr>
          <a:xfrm>
            <a:off x="6190488"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0488"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Komunikasi</a:t>
            </a:r>
          </a:p>
        </p:txBody>
      </p:sp>
      <p:sp>
        <p:nvSpPr>
          <p:cNvPr id="22" name="TextBox 21"/>
          <p:cNvSpPr txBox="1"/>
          <p:nvPr/>
        </p:nvSpPr>
        <p:spPr>
          <a:xfrm>
            <a:off x="6391656"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Pisahkan fakta, hipotesis, asumsi bisnis dan</a:t>
            </a:r>
          </a:p>
          <a:p>
            <a:pPr>
              <a:lnSpc>
                <a:spcPct val="118000"/>
              </a:lnSpc>
              <a:spcBef>
                <a:spcPts val="0"/>
              </a:spcBef>
              <a:spcAft>
                <a:spcPts val="0"/>
              </a:spcAft>
              <a:defRPr sz="1500" b="0">
                <a:solidFill>
                  <a:srgbClr val="BDD0E2"/>
                </a:solidFill>
                <a:latin typeface="DejaVu Sans"/>
              </a:defRPr>
            </a:pPr>
            <a:r>
              <a:t>bukti kausal dalam memo keputusan.</a:t>
            </a:r>
          </a:p>
        </p:txBody>
      </p:sp>
      <p:sp>
        <p:nvSpPr>
          <p:cNvPr id="23" name="TextBox 22"/>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GPU tidak diperlukan; kedisiplinan data dan evaluasi lebih penting daripada kompleksitas model.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03 / ENVIRONMENT</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Library yang dipasang dan kegunaannya</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05</a:t>
            </a:r>
          </a:p>
        </p:txBody>
      </p:sp>
      <p:sp>
        <p:nvSpPr>
          <p:cNvPr id="7" name="Rectangle 6"/>
          <p:cNvSpPr/>
          <p:nvPr/>
        </p:nvSpPr>
        <p:spPr>
          <a:xfrm>
            <a:off x="594360"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Data dan visual</a:t>
            </a:r>
          </a:p>
        </p:txBody>
      </p:sp>
      <p:sp>
        <p:nvSpPr>
          <p:cNvPr id="10" name="TextBox 9"/>
          <p:cNvSpPr txBox="1"/>
          <p:nvPr/>
        </p:nvSpPr>
        <p:spPr>
          <a:xfrm>
            <a:off x="795528"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numpy: simulasi; pandas: tabel dan waktu;</a:t>
            </a:r>
          </a:p>
          <a:p>
            <a:pPr>
              <a:lnSpc>
                <a:spcPct val="118000"/>
              </a:lnSpc>
              <a:spcBef>
                <a:spcPts val="0"/>
              </a:spcBef>
              <a:spcAft>
                <a:spcPts val="0"/>
              </a:spcAft>
              <a:defRPr sz="1500" b="0">
                <a:solidFill>
                  <a:srgbClr val="BDD0E2"/>
                </a:solidFill>
                <a:latin typeface="DejaVu Sans"/>
              </a:defRPr>
            </a:pPr>
            <a:r>
              <a:t>matplotlib: grafik, diagram dan PDF.</a:t>
            </a:r>
          </a:p>
        </p:txBody>
      </p:sp>
      <p:sp>
        <p:nvSpPr>
          <p:cNvPr id="11" name="Rectangle 10"/>
          <p:cNvSpPr/>
          <p:nvPr/>
        </p:nvSpPr>
        <p:spPr>
          <a:xfrm>
            <a:off x="6190488"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Machine learning</a:t>
            </a:r>
          </a:p>
        </p:txBody>
      </p:sp>
      <p:sp>
        <p:nvSpPr>
          <p:cNvPr id="14" name="TextBox 13"/>
          <p:cNvSpPr txBox="1"/>
          <p:nvPr/>
        </p:nvSpPr>
        <p:spPr>
          <a:xfrm>
            <a:off x="6391656"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scikit-learn: pipeline, imputasi, encoder, model</a:t>
            </a:r>
          </a:p>
          <a:p>
            <a:pPr>
              <a:lnSpc>
                <a:spcPct val="118000"/>
              </a:lnSpc>
              <a:spcBef>
                <a:spcPts val="0"/>
              </a:spcBef>
              <a:spcAft>
                <a:spcPts val="0"/>
              </a:spcAft>
              <a:defRPr sz="1500" b="0">
                <a:solidFill>
                  <a:srgbClr val="BDD0E2"/>
                </a:solidFill>
                <a:latin typeface="DejaVu Sans"/>
              </a:defRPr>
            </a:pPr>
            <a:r>
              <a:t>dan metrik; scipy: komputasi numerik.</a:t>
            </a:r>
          </a:p>
        </p:txBody>
      </p:sp>
      <p:sp>
        <p:nvSpPr>
          <p:cNvPr id="15" name="Rectangle 14"/>
          <p:cNvSpPr/>
          <p:nvPr/>
        </p:nvSpPr>
        <p:spPr>
          <a:xfrm>
            <a:off x="594360"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Artifact dan materi</a:t>
            </a:r>
          </a:p>
        </p:txBody>
      </p:sp>
      <p:sp>
        <p:nvSpPr>
          <p:cNvPr id="18" name="TextBox 17"/>
          <p:cNvSpPr txBox="1"/>
          <p:nvPr/>
        </p:nvSpPr>
        <p:spPr>
          <a:xfrm>
            <a:off x="795528"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joblib: simpan model; python-pptx: deck;</a:t>
            </a:r>
          </a:p>
          <a:p>
            <a:pPr>
              <a:lnSpc>
                <a:spcPct val="118000"/>
              </a:lnSpc>
              <a:spcBef>
                <a:spcPts val="0"/>
              </a:spcBef>
              <a:spcAft>
                <a:spcPts val="0"/>
              </a:spcAft>
              <a:defRPr sz="1500" b="0">
                <a:solidFill>
                  <a:srgbClr val="BDD0E2"/>
                </a:solidFill>
                <a:latin typeface="DejaVu Sans"/>
              </a:defRPr>
            </a:pPr>
            <a:r>
              <a:t>nbformat, nbclient, ipykernel: notebook.</a:t>
            </a:r>
          </a:p>
        </p:txBody>
      </p:sp>
      <p:sp>
        <p:nvSpPr>
          <p:cNvPr id="19" name="Rectangle 18"/>
          <p:cNvSpPr/>
          <p:nvPr/>
        </p:nvSpPr>
        <p:spPr>
          <a:xfrm>
            <a:off x="6190488"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0488"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Reproducibility</a:t>
            </a:r>
          </a:p>
        </p:txBody>
      </p:sp>
      <p:sp>
        <p:nvSpPr>
          <p:cNvPr id="22" name="TextBox 21"/>
          <p:cNvSpPr txBox="1"/>
          <p:nvPr/>
        </p:nvSpPr>
        <p:spPr>
          <a:xfrm>
            <a:off x="6391656"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requirements.txt dan requirements-lock.txt;</a:t>
            </a:r>
          </a:p>
          <a:p>
            <a:pPr>
              <a:lnSpc>
                <a:spcPct val="118000"/>
              </a:lnSpc>
              <a:spcBef>
                <a:spcPts val="0"/>
              </a:spcBef>
              <a:spcAft>
                <a:spcPts val="0"/>
              </a:spcAft>
              <a:defRPr sz="1500" b="0">
                <a:solidFill>
                  <a:srgbClr val="BDD0E2"/>
                </a:solidFill>
                <a:latin typeface="DejaVu Sans"/>
              </a:defRPr>
            </a:pPr>
            <a:r>
              <a:t>seed, manifest, pengujian dan versi runtime.</a:t>
            </a:r>
          </a:p>
        </p:txBody>
      </p:sp>
      <p:sp>
        <p:nvSpPr>
          <p:cNvPr id="23" name="TextBox 22"/>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Mulai dengan python build_case.py; semua output mengikuti direktori proyek.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04 / TARGET DEFINITION</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Kontrak bisnis dan label yang jelas</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06</a:t>
            </a:r>
          </a:p>
        </p:txBody>
      </p:sp>
      <p:sp>
        <p:nvSpPr>
          <p:cNvPr id="7" name="Rectangle 6"/>
          <p:cNvSpPr/>
          <p:nvPr/>
        </p:nvSpPr>
        <p:spPr>
          <a:xfrm>
            <a:off x="594360"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Unit churn</a:t>
            </a:r>
          </a:p>
        </p:txBody>
      </p:sp>
      <p:sp>
        <p:nvSpPr>
          <p:cNvPr id="10" name="TextBox 9"/>
          <p:cNvSpPr txBox="1"/>
          <p:nvPr/>
        </p:nvSpPr>
        <p:spPr>
          <a:xfrm>
            <a:off x="795528"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Satu nasabah = satu polis. Satu baris = polis</a:t>
            </a:r>
          </a:p>
          <a:p>
            <a:pPr>
              <a:lnSpc>
                <a:spcPct val="118000"/>
              </a:lnSpc>
              <a:spcBef>
                <a:spcPts val="0"/>
              </a:spcBef>
              <a:spcAft>
                <a:spcPts val="0"/>
              </a:spcAft>
              <a:defRPr sz="1500" b="0">
                <a:solidFill>
                  <a:srgbClr val="BDD0E2"/>
                </a:solidFill>
                <a:latin typeface="DejaVu Sans"/>
              </a:defRPr>
            </a:pPr>
            <a:r>
              <a:t>aktif pada awal suatu bulan.</a:t>
            </a:r>
          </a:p>
        </p:txBody>
      </p:sp>
      <p:sp>
        <p:nvSpPr>
          <p:cNvPr id="11" name="Rectangle 10"/>
          <p:cNvSpPr/>
          <p:nvPr/>
        </p:nvSpPr>
        <p:spPr>
          <a:xfrm>
            <a:off x="6190488"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Target</a:t>
            </a:r>
          </a:p>
        </p:txBody>
      </p:sp>
      <p:sp>
        <p:nvSpPr>
          <p:cNvPr id="14" name="TextBox 13"/>
          <p:cNvSpPr txBox="1"/>
          <p:nvPr/>
        </p:nvSpPr>
        <p:spPr>
          <a:xfrm>
            <a:off x="6391656"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churn_next_month: terminal lapse/cancel selama</a:t>
            </a:r>
          </a:p>
          <a:p>
            <a:pPr>
              <a:lnSpc>
                <a:spcPct val="118000"/>
              </a:lnSpc>
              <a:spcBef>
                <a:spcPts val="0"/>
              </a:spcBef>
              <a:spcAft>
                <a:spcPts val="0"/>
              </a:spcAft>
              <a:defRPr sz="1500" b="0">
                <a:solidFill>
                  <a:srgbClr val="BDD0E2"/>
                </a:solidFill>
                <a:latin typeface="DejaVu Sans"/>
              </a:defRPr>
            </a:pPr>
            <a:r>
              <a:t>bulan sesudah snapshot, sebelum label_end_date.</a:t>
            </a:r>
          </a:p>
        </p:txBody>
      </p:sp>
      <p:sp>
        <p:nvSpPr>
          <p:cNvPr id="15" name="Rectangle 14"/>
          <p:cNvSpPr/>
          <p:nvPr/>
        </p:nvSpPr>
        <p:spPr>
          <a:xfrm>
            <a:off x="594360"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Unit akuisisi</a:t>
            </a:r>
          </a:p>
        </p:txBody>
      </p:sp>
      <p:sp>
        <p:nvSpPr>
          <p:cNvPr id="18" name="TextBox 17"/>
          <p:cNvSpPr txBox="1"/>
          <p:nvPr/>
        </p:nvSpPr>
        <p:spPr>
          <a:xfrm>
            <a:off x="795528"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Satu baris = wilayah x minggu. Target = jumlah</a:t>
            </a:r>
          </a:p>
          <a:p>
            <a:pPr>
              <a:lnSpc>
                <a:spcPct val="118000"/>
              </a:lnSpc>
              <a:spcBef>
                <a:spcPts val="0"/>
              </a:spcBef>
              <a:spcAft>
                <a:spcPts val="0"/>
              </a:spcAft>
              <a:defRPr sz="1500" b="0">
                <a:solidFill>
                  <a:srgbClr val="BDD0E2"/>
                </a:solidFill>
                <a:latin typeface="DejaVu Sans"/>
              </a:defRPr>
            </a:pPr>
            <a:r>
              <a:t>polis baru dalam minggu prediksi.</a:t>
            </a:r>
          </a:p>
        </p:txBody>
      </p:sp>
      <p:sp>
        <p:nvSpPr>
          <p:cNvPr id="19" name="Rectangle 18"/>
          <p:cNvSpPr/>
          <p:nvPr/>
        </p:nvSpPr>
        <p:spPr>
          <a:xfrm>
            <a:off x="6190488"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0488"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Simplifikasi</a:t>
            </a:r>
          </a:p>
        </p:txBody>
      </p:sp>
      <p:sp>
        <p:nvSpPr>
          <p:cNvPr id="22" name="TextBox 21"/>
          <p:cNvSpPr txBox="1"/>
          <p:nvPr/>
        </p:nvSpPr>
        <p:spPr>
          <a:xfrm>
            <a:off x="6391656"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Tidak ada reinstatement, multi-policy, grace</a:t>
            </a:r>
          </a:p>
          <a:p>
            <a:pPr>
              <a:lnSpc>
                <a:spcPct val="118000"/>
              </a:lnSpc>
              <a:spcBef>
                <a:spcPts val="0"/>
              </a:spcBef>
              <a:spcAft>
                <a:spcPts val="0"/>
              </a:spcAft>
              <a:defRPr sz="1500" b="0">
                <a:solidFill>
                  <a:srgbClr val="BDD0E2"/>
                </a:solidFill>
                <a:latin typeface="DejaVu Sans"/>
              </a:defRPr>
            </a:pPr>
            <a:r>
              <a:t>period atau competing risks dalam simulator.</a:t>
            </a:r>
          </a:p>
        </p:txBody>
      </p:sp>
      <p:sp>
        <p:nvSpPr>
          <p:cNvPr id="23" name="TextBox 22"/>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Horizon adalah satu bulan kalender, bukan tepat 30 hari.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04 / SCIENTIFIC REASONING</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Peta hipotesis dan faktor tersembunyi</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07</a:t>
            </a:r>
          </a:p>
        </p:txBody>
      </p:sp>
      <p:pic>
        <p:nvPicPr>
          <p:cNvPr id="7" name="Picture 6" descr="hypothesis_map.png"/>
          <p:cNvPicPr>
            <a:picLocks noChangeAspect="1"/>
          </p:cNvPicPr>
          <p:nvPr/>
        </p:nvPicPr>
        <p:blipFill>
          <a:blip r:embed="rId2"/>
          <a:stretch>
            <a:fillRect/>
          </a:stretch>
        </p:blipFill>
        <p:spPr>
          <a:xfrm>
            <a:off x="1472844" y="1700784"/>
            <a:ext cx="9215830" cy="4251960"/>
          </a:xfrm>
          <a:prstGeom prst="rect">
            <a:avLst/>
          </a:prstGeom>
        </p:spPr>
      </p:pic>
      <p:sp>
        <p:nvSpPr>
          <p:cNvPr id="8" name="TextBox 7"/>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Panah menggambarkan dugaan jalur; data observasional belum membuktikan jalur tersebut.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05 / DATA QUALITY</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Tabel dan timestamp yang harus diaudit</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08</a:t>
            </a:r>
          </a:p>
        </p:txBody>
      </p:sp>
      <p:sp>
        <p:nvSpPr>
          <p:cNvPr id="7" name="Rectangle 6"/>
          <p:cNvSpPr/>
          <p:nvPr/>
        </p:nvSpPr>
        <p:spPr>
          <a:xfrm>
            <a:off x="594360"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Kunci unik</a:t>
            </a:r>
          </a:p>
        </p:txBody>
      </p:sp>
      <p:sp>
        <p:nvSpPr>
          <p:cNvPr id="10" name="TextBox 9"/>
          <p:cNvSpPr txBox="1"/>
          <p:nvPr/>
        </p:nvSpPr>
        <p:spPr>
          <a:xfrm>
            <a:off x="795528"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customer_id + snapshot_date. Duplikasi dapat</a:t>
            </a:r>
          </a:p>
          <a:p>
            <a:pPr>
              <a:lnSpc>
                <a:spcPct val="118000"/>
              </a:lnSpc>
              <a:spcBef>
                <a:spcPts val="0"/>
              </a:spcBef>
              <a:spcAft>
                <a:spcPts val="0"/>
              </a:spcAft>
              <a:defRPr sz="1500" b="0">
                <a:solidFill>
                  <a:srgbClr val="BDD0E2"/>
                </a:solidFill>
                <a:latin typeface="DejaVu Sans"/>
              </a:defRPr>
            </a:pPr>
            <a:r>
              <a:t>menggandakan denominator dan memberi bobot</a:t>
            </a:r>
          </a:p>
          <a:p>
            <a:pPr>
              <a:lnSpc>
                <a:spcPct val="118000"/>
              </a:lnSpc>
              <a:spcBef>
                <a:spcPts val="0"/>
              </a:spcBef>
              <a:spcAft>
                <a:spcPts val="0"/>
              </a:spcAft>
              <a:defRPr sz="1500" b="0">
                <a:solidFill>
                  <a:srgbClr val="BDD0E2"/>
                </a:solidFill>
                <a:latin typeface="DejaVu Sans"/>
              </a:defRPr>
            </a:pPr>
            <a:r>
              <a:t>palsu.</a:t>
            </a:r>
          </a:p>
        </p:txBody>
      </p:sp>
      <p:sp>
        <p:nvSpPr>
          <p:cNvPr id="11" name="Rectangle 10"/>
          <p:cNvSpPr/>
          <p:nvPr/>
        </p:nvSpPr>
        <p:spPr>
          <a:xfrm>
            <a:off x="6190488"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Ketersediaan fitur</a:t>
            </a:r>
          </a:p>
        </p:txBody>
      </p:sp>
      <p:sp>
        <p:nvSpPr>
          <p:cNvPr id="14" name="TextBox 13"/>
          <p:cNvSpPr txBox="1"/>
          <p:nvPr/>
        </p:nvSpPr>
        <p:spPr>
          <a:xfrm>
            <a:off x="6391656"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feature_as_of &lt; snapshot_date &lt; label_end_date.</a:t>
            </a:r>
          </a:p>
          <a:p>
            <a:pPr>
              <a:lnSpc>
                <a:spcPct val="118000"/>
              </a:lnSpc>
              <a:spcBef>
                <a:spcPts val="0"/>
              </a:spcBef>
              <a:spcAft>
                <a:spcPts val="0"/>
              </a:spcAft>
              <a:defRPr sz="1500" b="0">
                <a:solidFill>
                  <a:srgbClr val="BDD0E2"/>
                </a:solidFill>
                <a:latin typeface="DejaVu Sans"/>
              </a:defRPr>
            </a:pPr>
            <a:r>
              <a:t>Data setelah churn tidak boleh muncul.</a:t>
            </a:r>
          </a:p>
        </p:txBody>
      </p:sp>
      <p:sp>
        <p:nvSpPr>
          <p:cNvPr id="15" name="Rectangle 14"/>
          <p:cNvSpPr/>
          <p:nvPr/>
        </p:nvSpPr>
        <p:spPr>
          <a:xfrm>
            <a:off x="594360"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Kelengkapan</a:t>
            </a:r>
          </a:p>
        </p:txBody>
      </p:sp>
      <p:sp>
        <p:nvSpPr>
          <p:cNvPr id="18" name="TextBox 17"/>
          <p:cNvSpPr txBox="1"/>
          <p:nvPr/>
        </p:nvSpPr>
        <p:spPr>
          <a:xfrm>
            <a:off x="795528"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Null pada app_sessions dan region disengaja</a:t>
            </a:r>
          </a:p>
          <a:p>
            <a:pPr>
              <a:lnSpc>
                <a:spcPct val="118000"/>
              </a:lnSpc>
              <a:spcBef>
                <a:spcPts val="0"/>
              </a:spcBef>
              <a:spcAft>
                <a:spcPts val="0"/>
              </a:spcAft>
              <a:defRPr sz="1500" b="0">
                <a:solidFill>
                  <a:srgbClr val="BDD0E2"/>
                </a:solidFill>
                <a:latin typeface="DejaVu Sans"/>
              </a:defRPr>
            </a:pPr>
            <a:r>
              <a:t>untuk mengajarkan imputasi yang fit di train.</a:t>
            </a:r>
          </a:p>
        </p:txBody>
      </p:sp>
      <p:sp>
        <p:nvSpPr>
          <p:cNvPr id="19" name="Rectangle 18"/>
          <p:cNvSpPr/>
          <p:nvPr/>
        </p:nvSpPr>
        <p:spPr>
          <a:xfrm>
            <a:off x="6190488"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0488"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Indeks ekonomi</a:t>
            </a:r>
          </a:p>
        </p:txBody>
      </p:sp>
      <p:sp>
        <p:nvSpPr>
          <p:cNvPr id="22" name="TextBox 21"/>
          <p:cNvSpPr txBox="1"/>
          <p:nvPr/>
        </p:nvSpPr>
        <p:spPr>
          <a:xfrm>
            <a:off x="6391656"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economic_stress_index sepenuhnya sintetis; data</a:t>
            </a:r>
          </a:p>
          <a:p>
            <a:pPr>
              <a:lnSpc>
                <a:spcPct val="118000"/>
              </a:lnSpc>
              <a:spcBef>
                <a:spcPts val="0"/>
              </a:spcBef>
              <a:spcAft>
                <a:spcPts val="0"/>
              </a:spcAft>
              <a:defRPr sz="1500" b="0">
                <a:solidFill>
                  <a:srgbClr val="BDD0E2"/>
                </a:solidFill>
                <a:latin typeface="DejaVu Sans"/>
              </a:defRPr>
            </a:pPr>
            <a:r>
              <a:t>nyata harus memakai tanggal publikasi asli.</a:t>
            </a:r>
          </a:p>
        </p:txBody>
      </p:sp>
      <p:sp>
        <p:nvSpPr>
          <p:cNvPr id="23" name="TextBox 22"/>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Audit gagal harus menghentikan pipeline sebelum training.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05 / AUDIT VISUAL</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EDA awal: missingness dan distribusi</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09</a:t>
            </a:r>
          </a:p>
        </p:txBody>
      </p:sp>
      <p:pic>
        <p:nvPicPr>
          <p:cNvPr id="7" name="Picture 6" descr="data_quality.png"/>
          <p:cNvPicPr>
            <a:picLocks noChangeAspect="1"/>
          </p:cNvPicPr>
          <p:nvPr/>
        </p:nvPicPr>
        <p:blipFill>
          <a:blip r:embed="rId2"/>
          <a:stretch>
            <a:fillRect/>
          </a:stretch>
        </p:blipFill>
        <p:spPr>
          <a:xfrm>
            <a:off x="765810" y="1700784"/>
            <a:ext cx="10629900" cy="4251960"/>
          </a:xfrm>
          <a:prstGeom prst="rect">
            <a:avLst/>
          </a:prstGeom>
        </p:spPr>
      </p:pic>
      <p:sp>
        <p:nvSpPr>
          <p:cNvPr id="8" name="TextBox 7"/>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Nilai kosong adalah kondisi yang harus dipahami sebelum diisi.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06 / EDA TIMELINE</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Premi naik; kapan churn benar-benar bergerak?</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10</a:t>
            </a:r>
          </a:p>
        </p:txBody>
      </p:sp>
      <p:pic>
        <p:nvPicPr>
          <p:cNvPr id="7" name="Picture 6" descr="churn_trend.png"/>
          <p:cNvPicPr>
            <a:picLocks noChangeAspect="1"/>
          </p:cNvPicPr>
          <p:nvPr/>
        </p:nvPicPr>
        <p:blipFill>
          <a:blip r:embed="rId2"/>
          <a:stretch>
            <a:fillRect/>
          </a:stretch>
        </p:blipFill>
        <p:spPr>
          <a:xfrm>
            <a:off x="2436222" y="1700784"/>
            <a:ext cx="7289074" cy="4251960"/>
          </a:xfrm>
          <a:prstGeom prst="rect">
            <a:avLst/>
          </a:prstGeom>
        </p:spPr>
      </p:pic>
      <p:sp>
        <p:nvSpPr>
          <p:cNvPr id="8" name="TextBox 7"/>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Bandingkan rate dan count sekaligus; basis nasabah berubah sepanjang waktu.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06 / SEGMENTATION</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Pola interaksi lebih berguna dari rata-rata</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11</a:t>
            </a:r>
          </a:p>
        </p:txBody>
      </p:sp>
      <p:pic>
        <p:nvPicPr>
          <p:cNvPr id="7" name="Picture 6" descr="renewal_payment.png"/>
          <p:cNvPicPr>
            <a:picLocks noChangeAspect="1"/>
          </p:cNvPicPr>
          <p:nvPr/>
        </p:nvPicPr>
        <p:blipFill>
          <a:blip r:embed="rId2"/>
          <a:stretch>
            <a:fillRect/>
          </a:stretch>
        </p:blipFill>
        <p:spPr>
          <a:xfrm>
            <a:off x="1459064" y="1700784"/>
            <a:ext cx="9243391" cy="4251960"/>
          </a:xfrm>
          <a:prstGeom prst="rect">
            <a:avLst/>
          </a:prstGeom>
        </p:spPr>
      </p:pic>
      <p:sp>
        <p:nvSpPr>
          <p:cNvPr id="8" name="TextBox 7"/>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Tunggakan dekat renewal dapat menjadi sinyal yang lebih kuat daripada premi saja.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06 / COHORT ANALYSIS</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Cohort retention dan right censoring</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12</a:t>
            </a:r>
          </a:p>
        </p:txBody>
      </p:sp>
      <p:pic>
        <p:nvPicPr>
          <p:cNvPr id="7" name="Picture 6" descr="cohort_retention.png"/>
          <p:cNvPicPr>
            <a:picLocks noChangeAspect="1"/>
          </p:cNvPicPr>
          <p:nvPr/>
        </p:nvPicPr>
        <p:blipFill>
          <a:blip r:embed="rId2"/>
          <a:stretch>
            <a:fillRect/>
          </a:stretch>
        </p:blipFill>
        <p:spPr>
          <a:xfrm>
            <a:off x="2183129" y="1700784"/>
            <a:ext cx="7795260" cy="4251960"/>
          </a:xfrm>
          <a:prstGeom prst="rect">
            <a:avLst/>
          </a:prstGeom>
        </p:spPr>
      </p:pic>
      <p:sp>
        <p:nvSpPr>
          <p:cNvPr id="8" name="TextBox 7"/>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Cohort baru dipisahkan dari pelanggan lama yang telah bertahan sebelum data dimulai.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06 / LEADING INDICATORS</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Sinyal sebelum outcome: keluhan dan pembayaran</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13</a:t>
            </a:r>
          </a:p>
        </p:txBody>
      </p:sp>
      <p:pic>
        <p:nvPicPr>
          <p:cNvPr id="7" name="Picture 6" descr="leading_signals.png"/>
          <p:cNvPicPr>
            <a:picLocks noChangeAspect="1"/>
          </p:cNvPicPr>
          <p:nvPr/>
        </p:nvPicPr>
        <p:blipFill>
          <a:blip r:embed="rId2"/>
          <a:stretch>
            <a:fillRect/>
          </a:stretch>
        </p:blipFill>
        <p:spPr>
          <a:xfrm>
            <a:off x="1651634" y="1700784"/>
            <a:ext cx="8858250" cy="4251960"/>
          </a:xfrm>
          <a:prstGeom prst="rect">
            <a:avLst/>
          </a:prstGeom>
        </p:spPr>
      </p:pic>
      <p:sp>
        <p:nvSpPr>
          <p:cNvPr id="8" name="TextBox 7"/>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Semua sinyal tersedia pada snapshot; nilai z-score hanya membantu perbandingan bentuk seri.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07 / ACQUISITION EDA</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Campaign tidak selalu ramai pada minggu yang sama</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14</a:t>
            </a:r>
          </a:p>
        </p:txBody>
      </p:sp>
      <p:pic>
        <p:nvPicPr>
          <p:cNvPr id="7" name="Picture 6" descr="acquisition_trend.png"/>
          <p:cNvPicPr>
            <a:picLocks noChangeAspect="1"/>
          </p:cNvPicPr>
          <p:nvPr/>
        </p:nvPicPr>
        <p:blipFill>
          <a:blip r:embed="rId2"/>
          <a:stretch>
            <a:fillRect/>
          </a:stretch>
        </p:blipFill>
        <p:spPr>
          <a:xfrm>
            <a:off x="2329030" y="1700784"/>
            <a:ext cx="7503458" cy="4251960"/>
          </a:xfrm>
          <a:prstGeom prst="rect">
            <a:avLst/>
          </a:prstGeom>
        </p:spPr>
      </p:pic>
      <p:sp>
        <p:nvSpPr>
          <p:cNvPr id="8" name="TextBox 7"/>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Kebutuhan proteksi, pencarian organik, referral dan jeda respons adalah hipotesis terukur.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07 / LAG ANALYSIS</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Menguji dugaan respons campaign yang tertunda</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15</a:t>
            </a:r>
          </a:p>
        </p:txBody>
      </p:sp>
      <p:pic>
        <p:nvPicPr>
          <p:cNvPr id="7" name="Picture 6" descr="campaign_lag.png"/>
          <p:cNvPicPr>
            <a:picLocks noChangeAspect="1"/>
          </p:cNvPicPr>
          <p:nvPr/>
        </p:nvPicPr>
        <p:blipFill>
          <a:blip r:embed="rId2"/>
          <a:stretch>
            <a:fillRect/>
          </a:stretch>
        </p:blipFill>
        <p:spPr>
          <a:xfrm>
            <a:off x="2007107" y="1700784"/>
            <a:ext cx="8147304" cy="4251960"/>
          </a:xfrm>
          <a:prstGeom prst="rect">
            <a:avLst/>
          </a:prstGeom>
        </p:spPr>
      </p:pic>
      <p:sp>
        <p:nvSpPr>
          <p:cNvPr id="8" name="TextBox 7"/>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Korelasi pada lag membantu memilih investigasi; periodicity dan confounder tetap harus diperiksa.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08 / FEATURE DESIGN</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Feature engineering dengan kontrak waktu</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16</a:t>
            </a:r>
          </a:p>
        </p:txBody>
      </p:sp>
      <p:sp>
        <p:nvSpPr>
          <p:cNvPr id="7" name="Rectangle 6"/>
          <p:cNvSpPr/>
          <p:nvPr/>
        </p:nvSpPr>
        <p:spPr>
          <a:xfrm>
            <a:off x="594360"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Riwayat 3 bulan</a:t>
            </a:r>
          </a:p>
        </p:txBody>
      </p:sp>
      <p:sp>
        <p:nvSpPr>
          <p:cNvPr id="10" name="TextBox 9"/>
          <p:cNvSpPr txBox="1"/>
          <p:nvPr/>
        </p:nvSpPr>
        <p:spPr>
          <a:xfrm>
            <a:off x="795528"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late_payments_3m, complaints_3m, claims_3m</a:t>
            </a:r>
          </a:p>
          <a:p>
            <a:pPr>
              <a:lnSpc>
                <a:spcPct val="118000"/>
              </a:lnSpc>
              <a:spcBef>
                <a:spcPts val="0"/>
              </a:spcBef>
              <a:spcAft>
                <a:spcPts val="0"/>
              </a:spcAft>
              <a:defRPr sz="1500" b="0">
                <a:solidFill>
                  <a:srgbClr val="BDD0E2"/>
                </a:solidFill>
                <a:latin typeface="DejaVu Sans"/>
              </a:defRPr>
            </a:pPr>
            <a:r>
              <a:t>dihitung sebelum snapshot.</a:t>
            </a:r>
          </a:p>
        </p:txBody>
      </p:sp>
      <p:sp>
        <p:nvSpPr>
          <p:cNvPr id="11" name="Rectangle 10"/>
          <p:cNvSpPr/>
          <p:nvPr/>
        </p:nvSpPr>
        <p:spPr>
          <a:xfrm>
            <a:off x="6190488"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Konteks renewal</a:t>
            </a:r>
          </a:p>
        </p:txBody>
      </p:sp>
      <p:sp>
        <p:nvSpPr>
          <p:cNvPr id="14" name="TextBox 13"/>
          <p:cNvSpPr txBox="1"/>
          <p:nvPr/>
        </p:nvSpPr>
        <p:spPr>
          <a:xfrm>
            <a:off x="6391656"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months_to_renewal dan interaksi renewal x</a:t>
            </a:r>
          </a:p>
          <a:p>
            <a:pPr>
              <a:lnSpc>
                <a:spcPct val="118000"/>
              </a:lnSpc>
              <a:spcBef>
                <a:spcPts val="0"/>
              </a:spcBef>
              <a:spcAft>
                <a:spcPts val="0"/>
              </a:spcAft>
              <a:defRPr sz="1500" b="0">
                <a:solidFill>
                  <a:srgbClr val="BDD0E2"/>
                </a:solidFill>
                <a:latin typeface="DejaVu Sans"/>
              </a:defRPr>
            </a:pPr>
            <a:r>
              <a:t>late_payments_3m.</a:t>
            </a:r>
          </a:p>
        </p:txBody>
      </p:sp>
      <p:sp>
        <p:nvSpPr>
          <p:cNvPr id="15" name="Rectangle 14"/>
          <p:cNvSpPr/>
          <p:nvPr/>
        </p:nvSpPr>
        <p:spPr>
          <a:xfrm>
            <a:off x="594360"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Keterjangkauan</a:t>
            </a:r>
          </a:p>
        </p:txBody>
      </p:sp>
      <p:sp>
        <p:nvSpPr>
          <p:cNvPr id="18" name="TextBox 17"/>
          <p:cNvSpPr txBox="1"/>
          <p:nvPr/>
        </p:nvSpPr>
        <p:spPr>
          <a:xfrm>
            <a:off x="795528"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premium_to_income = premi bulanan / pendapatan</a:t>
            </a:r>
          </a:p>
          <a:p>
            <a:pPr>
              <a:lnSpc>
                <a:spcPct val="118000"/>
              </a:lnSpc>
              <a:spcBef>
                <a:spcPts val="0"/>
              </a:spcBef>
              <a:spcAft>
                <a:spcPts val="0"/>
              </a:spcAft>
              <a:defRPr sz="1500" b="0">
                <a:solidFill>
                  <a:srgbClr val="BDD0E2"/>
                </a:solidFill>
                <a:latin typeface="DejaVu Sans"/>
              </a:defRPr>
            </a:pPr>
            <a:r>
              <a:t>simulasi bulanan.</a:t>
            </a:r>
          </a:p>
        </p:txBody>
      </p:sp>
      <p:sp>
        <p:nvSpPr>
          <p:cNvPr id="19" name="Rectangle 18"/>
          <p:cNvSpPr/>
          <p:nvPr/>
        </p:nvSpPr>
        <p:spPr>
          <a:xfrm>
            <a:off x="6190488"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0488"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Larangan leakage</a:t>
            </a:r>
          </a:p>
        </p:txBody>
      </p:sp>
      <p:sp>
        <p:nvSpPr>
          <p:cNvPr id="22" name="TextBox 21"/>
          <p:cNvSpPr txBox="1"/>
          <p:nvPr/>
        </p:nvSpPr>
        <p:spPr>
          <a:xfrm>
            <a:off x="6391656"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ID, churn outcome, tanggal akhir label dan</a:t>
            </a:r>
          </a:p>
          <a:p>
            <a:pPr>
              <a:lnSpc>
                <a:spcPct val="118000"/>
              </a:lnSpc>
              <a:spcBef>
                <a:spcPts val="0"/>
              </a:spcBef>
              <a:spcAft>
                <a:spcPts val="0"/>
              </a:spcAft>
              <a:defRPr sz="1500" b="0">
                <a:solidFill>
                  <a:srgbClr val="BDD0E2"/>
                </a:solidFill>
                <a:latin typeface="DejaVu Sans"/>
              </a:defRPr>
            </a:pPr>
            <a:r>
              <a:t>variabel shock tersembunyi bukan fitur.</a:t>
            </a:r>
          </a:p>
        </p:txBody>
      </p:sp>
      <p:sp>
        <p:nvSpPr>
          <p:cNvPr id="23" name="TextBox 22"/>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Dalam implementasi nyata, historical windows harus dibangun dari event log yang tersedia saat itu.</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09 / TEMPORAL VALIDATION</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Train, validation, test dan embargo</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17</a:t>
            </a:r>
          </a:p>
        </p:txBody>
      </p:sp>
      <p:sp>
        <p:nvSpPr>
          <p:cNvPr id="7" name="Rectangle 6"/>
          <p:cNvSpPr/>
          <p:nvPr/>
        </p:nvSpPr>
        <p:spPr>
          <a:xfrm>
            <a:off x="594360"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Training</a:t>
            </a:r>
          </a:p>
        </p:txBody>
      </p:sp>
      <p:sp>
        <p:nvSpPr>
          <p:cNvPr id="10" name="TextBox 9"/>
          <p:cNvSpPr txBox="1"/>
          <p:nvPr/>
        </p:nvSpPr>
        <p:spPr>
          <a:xfrm>
            <a:off x="795528"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Jan 2023–Jun 2025. Semua preprocessing hanya fit</a:t>
            </a:r>
          </a:p>
          <a:p>
            <a:pPr>
              <a:lnSpc>
                <a:spcPct val="118000"/>
              </a:lnSpc>
              <a:spcBef>
                <a:spcPts val="0"/>
              </a:spcBef>
              <a:spcAft>
                <a:spcPts val="0"/>
              </a:spcAft>
              <a:defRPr sz="1500" b="0">
                <a:solidFill>
                  <a:srgbClr val="BDD0E2"/>
                </a:solidFill>
                <a:latin typeface="DejaVu Sans"/>
              </a:defRPr>
            </a:pPr>
            <a:r>
              <a:t>di periode ini.</a:t>
            </a:r>
          </a:p>
        </p:txBody>
      </p:sp>
      <p:sp>
        <p:nvSpPr>
          <p:cNvPr id="11" name="Rectangle 10"/>
          <p:cNvSpPr/>
          <p:nvPr/>
        </p:nvSpPr>
        <p:spPr>
          <a:xfrm>
            <a:off x="6190488"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Validation</a:t>
            </a:r>
          </a:p>
        </p:txBody>
      </p:sp>
      <p:sp>
        <p:nvSpPr>
          <p:cNvPr id="14" name="TextBox 13"/>
          <p:cNvSpPr txBox="1"/>
          <p:nvPr/>
        </p:nvSpPr>
        <p:spPr>
          <a:xfrm>
            <a:off x="6391656"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Agu–Des 2025. Pilih model menggunakan average</a:t>
            </a:r>
          </a:p>
          <a:p>
            <a:pPr>
              <a:lnSpc>
                <a:spcPct val="118000"/>
              </a:lnSpc>
              <a:spcBef>
                <a:spcPts val="0"/>
              </a:spcBef>
              <a:spcAft>
                <a:spcPts val="0"/>
              </a:spcAft>
              <a:defRPr sz="1500" b="0">
                <a:solidFill>
                  <a:srgbClr val="BDD0E2"/>
                </a:solidFill>
                <a:latin typeface="DejaVu Sans"/>
              </a:defRPr>
            </a:pPr>
            <a:r>
              <a:t>precision; tentukan threshold.</a:t>
            </a:r>
          </a:p>
        </p:txBody>
      </p:sp>
      <p:sp>
        <p:nvSpPr>
          <p:cNvPr id="15" name="Rectangle 14"/>
          <p:cNvSpPr/>
          <p:nvPr/>
        </p:nvSpPr>
        <p:spPr>
          <a:xfrm>
            <a:off x="594360"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Final test</a:t>
            </a:r>
          </a:p>
        </p:txBody>
      </p:sp>
      <p:sp>
        <p:nvSpPr>
          <p:cNvPr id="18" name="TextBox 17"/>
          <p:cNvSpPr txBox="1"/>
          <p:nvPr/>
        </p:nvSpPr>
        <p:spPr>
          <a:xfrm>
            <a:off x="795528"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Feb–Sep 2026. Jangan ubah model setelah melihat</a:t>
            </a:r>
          </a:p>
          <a:p>
            <a:pPr>
              <a:lnSpc>
                <a:spcPct val="118000"/>
              </a:lnSpc>
              <a:spcBef>
                <a:spcPts val="0"/>
              </a:spcBef>
              <a:spcAft>
                <a:spcPts val="0"/>
              </a:spcAft>
              <a:defRPr sz="1500" b="0">
                <a:solidFill>
                  <a:srgbClr val="BDD0E2"/>
                </a:solidFill>
                <a:latin typeface="DejaVu Sans"/>
              </a:defRPr>
            </a:pPr>
            <a:r>
              <a:t>hasilnya.</a:t>
            </a:r>
          </a:p>
        </p:txBody>
      </p:sp>
      <p:sp>
        <p:nvSpPr>
          <p:cNvPr id="19" name="Rectangle 18"/>
          <p:cNvSpPr/>
          <p:nvPr/>
        </p:nvSpPr>
        <p:spPr>
          <a:xfrm>
            <a:off x="6190488"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0488"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Embargo</a:t>
            </a:r>
          </a:p>
        </p:txBody>
      </p:sp>
      <p:sp>
        <p:nvSpPr>
          <p:cNvPr id="22" name="TextBox 21"/>
          <p:cNvSpPr txBox="1"/>
          <p:nvPr/>
        </p:nvSpPr>
        <p:spPr>
          <a:xfrm>
            <a:off x="6391656"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Jul 2025 dan Jan 2026. Label train/validation</a:t>
            </a:r>
          </a:p>
          <a:p>
            <a:pPr>
              <a:lnSpc>
                <a:spcPct val="118000"/>
              </a:lnSpc>
              <a:spcBef>
                <a:spcPts val="0"/>
              </a:spcBef>
              <a:spcAft>
                <a:spcPts val="0"/>
              </a:spcAft>
              <a:defRPr sz="1500" b="0">
                <a:solidFill>
                  <a:srgbClr val="BDD0E2"/>
                </a:solidFill>
                <a:latin typeface="DejaVu Sans"/>
              </a:defRPr>
            </a:pPr>
            <a:r>
              <a:t>matang sebelum scoring split berikutnya.</a:t>
            </a:r>
          </a:p>
        </p:txBody>
      </p:sp>
      <p:sp>
        <p:nvSpPr>
          <p:cNvPr id="23" name="TextBox 22"/>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Nasabah berulang mencerminkan scoring portofolio; generalisasi ke nasabah baru perlu evaluasi terpisah.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09 / THREE HISTORICAL FOLDS</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Rolling backtest untuk memeriksa stabilitas</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18</a:t>
            </a:r>
          </a:p>
        </p:txBody>
      </p:sp>
      <p:sp>
        <p:nvSpPr>
          <p:cNvPr id="7" name="Rectangle 6"/>
          <p:cNvSpPr/>
          <p:nvPr/>
        </p:nvSpPr>
        <p:spPr>
          <a:xfrm>
            <a:off x="594360"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Fold 1</a:t>
            </a:r>
          </a:p>
        </p:txBody>
      </p:sp>
      <p:sp>
        <p:nvSpPr>
          <p:cNvPr id="10" name="TextBox 9"/>
          <p:cNvSpPr txBox="1"/>
          <p:nvPr/>
        </p:nvSpPr>
        <p:spPr>
          <a:xfrm>
            <a:off x="795528"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Train sampai Jun 2024; validasi Agu–Okt 2024.</a:t>
            </a:r>
          </a:p>
        </p:txBody>
      </p:sp>
      <p:sp>
        <p:nvSpPr>
          <p:cNvPr id="11" name="Rectangle 10"/>
          <p:cNvSpPr/>
          <p:nvPr/>
        </p:nvSpPr>
        <p:spPr>
          <a:xfrm>
            <a:off x="6190488"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Fold 2</a:t>
            </a:r>
          </a:p>
        </p:txBody>
      </p:sp>
      <p:sp>
        <p:nvSpPr>
          <p:cNvPr id="14" name="TextBox 13"/>
          <p:cNvSpPr txBox="1"/>
          <p:nvPr/>
        </p:nvSpPr>
        <p:spPr>
          <a:xfrm>
            <a:off x="6391656"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Train sampai Sep 2024; validasi Nov 2024–Jan</a:t>
            </a:r>
          </a:p>
          <a:p>
            <a:pPr>
              <a:lnSpc>
                <a:spcPct val="118000"/>
              </a:lnSpc>
              <a:spcBef>
                <a:spcPts val="0"/>
              </a:spcBef>
              <a:spcAft>
                <a:spcPts val="0"/>
              </a:spcAft>
              <a:defRPr sz="1500" b="0">
                <a:solidFill>
                  <a:srgbClr val="BDD0E2"/>
                </a:solidFill>
                <a:latin typeface="DejaVu Sans"/>
              </a:defRPr>
            </a:pPr>
            <a:r>
              <a:t>2025.</a:t>
            </a:r>
          </a:p>
        </p:txBody>
      </p:sp>
      <p:sp>
        <p:nvSpPr>
          <p:cNvPr id="15" name="Rectangle 14"/>
          <p:cNvSpPr/>
          <p:nvPr/>
        </p:nvSpPr>
        <p:spPr>
          <a:xfrm>
            <a:off x="594360"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Fold 3</a:t>
            </a:r>
          </a:p>
        </p:txBody>
      </p:sp>
      <p:sp>
        <p:nvSpPr>
          <p:cNvPr id="18" name="TextBox 17"/>
          <p:cNvSpPr txBox="1"/>
          <p:nvPr/>
        </p:nvSpPr>
        <p:spPr>
          <a:xfrm>
            <a:off x="795528"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Train sampai Des 2024; validasi Feb–Apr 2025.</a:t>
            </a:r>
          </a:p>
        </p:txBody>
      </p:sp>
      <p:sp>
        <p:nvSpPr>
          <p:cNvPr id="19" name="Rectangle 18"/>
          <p:cNvSpPr/>
          <p:nvPr/>
        </p:nvSpPr>
        <p:spPr>
          <a:xfrm>
            <a:off x="6190488"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0488"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Interpretasi</a:t>
            </a:r>
          </a:p>
        </p:txBody>
      </p:sp>
      <p:sp>
        <p:nvSpPr>
          <p:cNvPr id="22" name="TextBox 21"/>
          <p:cNvSpPr txBox="1"/>
          <p:nvPr/>
        </p:nvSpPr>
        <p:spPr>
          <a:xfrm>
            <a:off x="6391656"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Bandingkan AP, lift dan prevalensi antar fold;</a:t>
            </a:r>
          </a:p>
          <a:p>
            <a:pPr>
              <a:lnSpc>
                <a:spcPct val="118000"/>
              </a:lnSpc>
              <a:spcBef>
                <a:spcPts val="0"/>
              </a:spcBef>
              <a:spcAft>
                <a:spcPts val="0"/>
              </a:spcAft>
              <a:defRPr sz="1500" b="0">
                <a:solidFill>
                  <a:srgbClr val="BDD0E2"/>
                </a:solidFill>
                <a:latin typeface="DejaVu Sans"/>
              </a:defRPr>
            </a:pPr>
            <a:r>
              <a:t>hindari kesimpulan dari satu periode mudah.</a:t>
            </a:r>
          </a:p>
        </p:txBody>
      </p:sp>
      <p:sp>
        <p:nvSpPr>
          <p:cNvPr id="23" name="TextBox 22"/>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Lihat artifacts/tables/rolling_backtest.csv; ketiga model memakai kontrak fitur yang sama.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10 / ENGINEERING WORKFLOW</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Pipeline ML yang dapat dipakai ulang</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19</a:t>
            </a:r>
          </a:p>
        </p:txBody>
      </p:sp>
      <p:pic>
        <p:nvPicPr>
          <p:cNvPr id="7" name="Picture 6" descr="ml_process.png"/>
          <p:cNvPicPr>
            <a:picLocks noChangeAspect="1"/>
          </p:cNvPicPr>
          <p:nvPr/>
        </p:nvPicPr>
        <p:blipFill>
          <a:blip r:embed="rId2"/>
          <a:stretch>
            <a:fillRect/>
          </a:stretch>
        </p:blipFill>
        <p:spPr>
          <a:xfrm>
            <a:off x="1472844" y="1700784"/>
            <a:ext cx="9215830" cy="4251960"/>
          </a:xfrm>
          <a:prstGeom prst="rect">
            <a:avLst/>
          </a:prstGeom>
        </p:spPr>
      </p:pic>
      <p:sp>
        <p:nvSpPr>
          <p:cNvPr id="8" name="TextBox 7"/>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Preprocessing dan estimator disimpan bersama agar training dan inference konsisten.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10 / CHURN MODELS</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Baseline dahulu, lalu model nonlinear</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20</a:t>
            </a:r>
          </a:p>
        </p:txBody>
      </p:sp>
      <p:sp>
        <p:nvSpPr>
          <p:cNvPr id="7" name="Rectangle 6"/>
          <p:cNvSpPr/>
          <p:nvPr/>
        </p:nvSpPr>
        <p:spPr>
          <a:xfrm>
            <a:off x="594360"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Baseline prevalensi</a:t>
            </a:r>
          </a:p>
        </p:txBody>
      </p:sp>
      <p:sp>
        <p:nvSpPr>
          <p:cNvPr id="10" name="TextBox 9"/>
          <p:cNvSpPr txBox="1"/>
          <p:nvPr/>
        </p:nvSpPr>
        <p:spPr>
          <a:xfrm>
            <a:off x="795528"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Semua nasabah mendapat probabilitas churn</a:t>
            </a:r>
          </a:p>
          <a:p>
            <a:pPr>
              <a:lnSpc>
                <a:spcPct val="118000"/>
              </a:lnSpc>
              <a:spcBef>
                <a:spcPts val="0"/>
              </a:spcBef>
              <a:spcAft>
                <a:spcPts val="0"/>
              </a:spcAft>
              <a:defRPr sz="1500" b="0">
                <a:solidFill>
                  <a:srgbClr val="BDD0E2"/>
                </a:solidFill>
                <a:latin typeface="DejaVu Sans"/>
              </a:defRPr>
            </a:pPr>
            <a:r>
              <a:t>training yang sama. Menunjukkan nilai tambah</a:t>
            </a:r>
          </a:p>
          <a:p>
            <a:pPr>
              <a:lnSpc>
                <a:spcPct val="118000"/>
              </a:lnSpc>
              <a:spcBef>
                <a:spcPts val="0"/>
              </a:spcBef>
              <a:spcAft>
                <a:spcPts val="0"/>
              </a:spcAft>
              <a:defRPr sz="1500" b="0">
                <a:solidFill>
                  <a:srgbClr val="BDD0E2"/>
                </a:solidFill>
                <a:latin typeface="DejaVu Sans"/>
              </a:defRPr>
            </a:pPr>
            <a:r>
              <a:t>ranking.</a:t>
            </a:r>
          </a:p>
        </p:txBody>
      </p:sp>
      <p:sp>
        <p:nvSpPr>
          <p:cNvPr id="11" name="Rectangle 10"/>
          <p:cNvSpPr/>
          <p:nvPr/>
        </p:nvSpPr>
        <p:spPr>
          <a:xfrm>
            <a:off x="6190488"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Logistic regression</a:t>
            </a:r>
          </a:p>
        </p:txBody>
      </p:sp>
      <p:sp>
        <p:nvSpPr>
          <p:cNvPr id="14" name="TextBox 13"/>
          <p:cNvSpPr txBox="1"/>
          <p:nvPr/>
        </p:nvSpPr>
        <p:spPr>
          <a:xfrm>
            <a:off x="6391656"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Probabilitas dari kombinasi fitur linear pada</a:t>
            </a:r>
          </a:p>
          <a:p>
            <a:pPr>
              <a:lnSpc>
                <a:spcPct val="118000"/>
              </a:lnSpc>
              <a:spcBef>
                <a:spcPts val="0"/>
              </a:spcBef>
              <a:spcAft>
                <a:spcPts val="0"/>
              </a:spcAft>
              <a:defRPr sz="1500" b="0">
                <a:solidFill>
                  <a:srgbClr val="BDD0E2"/>
                </a:solidFill>
                <a:latin typeface="DejaVu Sans"/>
              </a:defRPr>
            </a:pPr>
            <a:r>
              <a:t>log-odds; baseline yang mudah diaudit.</a:t>
            </a:r>
          </a:p>
        </p:txBody>
      </p:sp>
      <p:sp>
        <p:nvSpPr>
          <p:cNvPr id="15" name="Rectangle 14"/>
          <p:cNvSpPr/>
          <p:nvPr/>
        </p:nvSpPr>
        <p:spPr>
          <a:xfrm>
            <a:off x="594360"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Gradient boosting</a:t>
            </a:r>
          </a:p>
        </p:txBody>
      </p:sp>
      <p:sp>
        <p:nvSpPr>
          <p:cNvPr id="18" name="TextBox 17"/>
          <p:cNvSpPr txBox="1"/>
          <p:nvPr/>
        </p:nvSpPr>
        <p:spPr>
          <a:xfrm>
            <a:off x="795528"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Pohon kecil ditambahkan bertahap untuk menangkap</a:t>
            </a:r>
          </a:p>
          <a:p>
            <a:pPr>
              <a:lnSpc>
                <a:spcPct val="118000"/>
              </a:lnSpc>
              <a:spcBef>
                <a:spcPts val="0"/>
              </a:spcBef>
              <a:spcAft>
                <a:spcPts val="0"/>
              </a:spcAft>
              <a:defRPr sz="1500" b="0">
                <a:solidFill>
                  <a:srgbClr val="BDD0E2"/>
                </a:solidFill>
                <a:latin typeface="DejaVu Sans"/>
              </a:defRPr>
            </a:pPr>
            <a:r>
              <a:t>hubungan nonlinear dan interaksi.</a:t>
            </a:r>
          </a:p>
        </p:txBody>
      </p:sp>
      <p:sp>
        <p:nvSpPr>
          <p:cNvPr id="19" name="Rectangle 18"/>
          <p:cNvSpPr/>
          <p:nvPr/>
        </p:nvSpPr>
        <p:spPr>
          <a:xfrm>
            <a:off x="6190488"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0488"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Pilihan sadar</a:t>
            </a:r>
          </a:p>
        </p:txBody>
      </p:sp>
      <p:sp>
        <p:nvSpPr>
          <p:cNvPr id="22" name="TextBox 21"/>
          <p:cNvSpPr txBox="1"/>
          <p:nvPr/>
        </p:nvSpPr>
        <p:spPr>
          <a:xfrm>
            <a:off x="6391656"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Tidak memakai class weighting otomatis karena</a:t>
            </a:r>
          </a:p>
          <a:p>
            <a:pPr>
              <a:lnSpc>
                <a:spcPct val="118000"/>
              </a:lnSpc>
              <a:spcBef>
                <a:spcPts val="0"/>
              </a:spcBef>
              <a:spcAft>
                <a:spcPts val="0"/>
              </a:spcAft>
              <a:defRPr sz="1500" b="0">
                <a:solidFill>
                  <a:srgbClr val="BDD0E2"/>
                </a:solidFill>
                <a:latin typeface="DejaVu Sans"/>
              </a:defRPr>
            </a:pPr>
            <a:r>
              <a:t>probabilitas dan kalibrasi penting untuk</a:t>
            </a:r>
          </a:p>
          <a:p>
            <a:pPr>
              <a:lnSpc>
                <a:spcPct val="118000"/>
              </a:lnSpc>
              <a:spcBef>
                <a:spcPts val="0"/>
              </a:spcBef>
              <a:spcAft>
                <a:spcPts val="0"/>
              </a:spcAft>
              <a:defRPr sz="1500" b="0">
                <a:solidFill>
                  <a:srgbClr val="BDD0E2"/>
                </a:solidFill>
                <a:latin typeface="DejaVu Sans"/>
              </a:defRPr>
            </a:pPr>
            <a:r>
              <a:t>keputusan.</a:t>
            </a:r>
          </a:p>
        </p:txBody>
      </p:sp>
      <p:sp>
        <p:nvSpPr>
          <p:cNvPr id="23" name="TextBox 22"/>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Model rumit harus mengalahkan baseline pada data masa depan, bukan hanya training.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11 / EVALUATION</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Metrik yang relevan dengan churn langka</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21</a:t>
            </a:r>
          </a:p>
        </p:txBody>
      </p:sp>
      <p:sp>
        <p:nvSpPr>
          <p:cNvPr id="7" name="Rectangle 6"/>
          <p:cNvSpPr/>
          <p:nvPr/>
        </p:nvSpPr>
        <p:spPr>
          <a:xfrm>
            <a:off x="594360"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Average precision</a:t>
            </a:r>
          </a:p>
        </p:txBody>
      </p:sp>
      <p:sp>
        <p:nvSpPr>
          <p:cNvPr id="10" name="TextBox 9"/>
          <p:cNvSpPr txBox="1"/>
          <p:nvPr/>
        </p:nvSpPr>
        <p:spPr>
          <a:xfrm>
            <a:off x="795528"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Merangkum precision-recall berbobot kenaikan</a:t>
            </a:r>
          </a:p>
          <a:p>
            <a:pPr>
              <a:lnSpc>
                <a:spcPct val="118000"/>
              </a:lnSpc>
              <a:spcBef>
                <a:spcPts val="0"/>
              </a:spcBef>
              <a:spcAft>
                <a:spcPts val="0"/>
              </a:spcAft>
              <a:defRPr sz="1500" b="0">
                <a:solidFill>
                  <a:srgbClr val="BDD0E2"/>
                </a:solidFill>
                <a:latin typeface="DejaVu Sans"/>
              </a:defRPr>
            </a:pPr>
            <a:r>
              <a:t>recall. Baseline ranking acak sekitar</a:t>
            </a:r>
          </a:p>
          <a:p>
            <a:pPr>
              <a:lnSpc>
                <a:spcPct val="118000"/>
              </a:lnSpc>
              <a:spcBef>
                <a:spcPts val="0"/>
              </a:spcBef>
              <a:spcAft>
                <a:spcPts val="0"/>
              </a:spcAft>
              <a:defRPr sz="1500" b="0">
                <a:solidFill>
                  <a:srgbClr val="BDD0E2"/>
                </a:solidFill>
                <a:latin typeface="DejaVu Sans"/>
              </a:defRPr>
            </a:pPr>
            <a:r>
              <a:t>prevalensi.</a:t>
            </a:r>
          </a:p>
        </p:txBody>
      </p:sp>
      <p:sp>
        <p:nvSpPr>
          <p:cNvPr id="11" name="Rectangle 10"/>
          <p:cNvSpPr/>
          <p:nvPr/>
        </p:nvSpPr>
        <p:spPr>
          <a:xfrm>
            <a:off x="6190488"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ROC-AUC dan Brier</a:t>
            </a:r>
          </a:p>
        </p:txBody>
      </p:sp>
      <p:sp>
        <p:nvSpPr>
          <p:cNvPr id="14" name="TextBox 13"/>
          <p:cNvSpPr txBox="1"/>
          <p:nvPr/>
        </p:nvSpPr>
        <p:spPr>
          <a:xfrm>
            <a:off x="6391656"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ROC-AUC mengukur ranking pasangan; Brier</a:t>
            </a:r>
          </a:p>
          <a:p>
            <a:pPr>
              <a:lnSpc>
                <a:spcPct val="118000"/>
              </a:lnSpc>
              <a:spcBef>
                <a:spcPts val="0"/>
              </a:spcBef>
              <a:spcAft>
                <a:spcPts val="0"/>
              </a:spcAft>
              <a:defRPr sz="1500" b="0">
                <a:solidFill>
                  <a:srgbClr val="BDD0E2"/>
                </a:solidFill>
                <a:latin typeface="DejaVu Sans"/>
              </a:defRPr>
            </a:pPr>
            <a:r>
              <a:t>mengukur squared error probabilitas.</a:t>
            </a:r>
          </a:p>
        </p:txBody>
      </p:sp>
      <p:sp>
        <p:nvSpPr>
          <p:cNvPr id="15" name="Rectangle 14"/>
          <p:cNvSpPr/>
          <p:nvPr/>
        </p:nvSpPr>
        <p:spPr>
          <a:xfrm>
            <a:off x="594360"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Capacity metrics</a:t>
            </a:r>
          </a:p>
        </p:txBody>
      </p:sp>
      <p:sp>
        <p:nvSpPr>
          <p:cNvPr id="18" name="TextBox 17"/>
          <p:cNvSpPr txBox="1"/>
          <p:nvPr/>
        </p:nvSpPr>
        <p:spPr>
          <a:xfrm>
            <a:off x="795528"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Precision, recall dan lift pada top 10% risiko</a:t>
            </a:r>
          </a:p>
          <a:p>
            <a:pPr>
              <a:lnSpc>
                <a:spcPct val="118000"/>
              </a:lnSpc>
              <a:spcBef>
                <a:spcPts val="0"/>
              </a:spcBef>
              <a:spcAft>
                <a:spcPts val="0"/>
              </a:spcAft>
              <a:defRPr sz="1500" b="0">
                <a:solidFill>
                  <a:srgbClr val="BDD0E2"/>
                </a:solidFill>
                <a:latin typeface="DejaVu Sans"/>
              </a:defRPr>
            </a:pPr>
            <a:r>
              <a:t>yang dihitung terpisah setiap bulan.</a:t>
            </a:r>
          </a:p>
        </p:txBody>
      </p:sp>
      <p:sp>
        <p:nvSpPr>
          <p:cNvPr id="19" name="Rectangle 18"/>
          <p:cNvSpPr/>
          <p:nvPr/>
        </p:nvSpPr>
        <p:spPr>
          <a:xfrm>
            <a:off x="6190488"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0488"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Kesalahan umum</a:t>
            </a:r>
          </a:p>
        </p:txBody>
      </p:sp>
      <p:sp>
        <p:nvSpPr>
          <p:cNvPr id="22" name="TextBox 21"/>
          <p:cNvSpPr txBox="1"/>
          <p:nvPr/>
        </p:nvSpPr>
        <p:spPr>
          <a:xfrm>
            <a:off x="6391656"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Accuracy tinggi dapat berasal dari memprediksi</a:t>
            </a:r>
          </a:p>
          <a:p>
            <a:pPr>
              <a:lnSpc>
                <a:spcPct val="118000"/>
              </a:lnSpc>
              <a:spcBef>
                <a:spcPts val="0"/>
              </a:spcBef>
              <a:spcAft>
                <a:spcPts val="0"/>
              </a:spcAft>
              <a:defRPr sz="1500" b="0">
                <a:solidFill>
                  <a:srgbClr val="BDD0E2"/>
                </a:solidFill>
                <a:latin typeface="DejaVu Sans"/>
              </a:defRPr>
            </a:pPr>
            <a:r>
              <a:t>semua nasabah bertahan.</a:t>
            </a:r>
          </a:p>
        </p:txBody>
      </p:sp>
      <p:sp>
        <p:nvSpPr>
          <p:cNvPr id="23" name="TextBox 22"/>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AP di paket ini bukan trapezoidal PR-AUC; gunakan istilah metrik dengan tepat.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11 / RESULTS FROM THIS RUN</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Perbandingan model pada final test</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22</a:t>
            </a:r>
          </a:p>
        </p:txBody>
      </p:sp>
      <p:pic>
        <p:nvPicPr>
          <p:cNvPr id="7" name="Picture 6" descr="model_comparison.png"/>
          <p:cNvPicPr>
            <a:picLocks noChangeAspect="1"/>
          </p:cNvPicPr>
          <p:nvPr/>
        </p:nvPicPr>
        <p:blipFill>
          <a:blip r:embed="rId2"/>
          <a:stretch>
            <a:fillRect/>
          </a:stretch>
        </p:blipFill>
        <p:spPr>
          <a:xfrm>
            <a:off x="1459064" y="1700784"/>
            <a:ext cx="9243391" cy="4251960"/>
          </a:xfrm>
          <a:prstGeom prst="rect">
            <a:avLst/>
          </a:prstGeom>
        </p:spPr>
      </p:pic>
      <p:sp>
        <p:nvSpPr>
          <p:cNvPr id="8" name="TextBox 7"/>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Terpilih dari validation: logistic_regression | AP test 0.194.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11 / RANKING DIAGNOSTICS</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Precision-recall dan ROC membaca hal berbeda</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23</a:t>
            </a:r>
          </a:p>
        </p:txBody>
      </p:sp>
      <p:pic>
        <p:nvPicPr>
          <p:cNvPr id="7" name="Picture 6" descr="pr_roc.png"/>
          <p:cNvPicPr>
            <a:picLocks noChangeAspect="1"/>
          </p:cNvPicPr>
          <p:nvPr/>
        </p:nvPicPr>
        <p:blipFill>
          <a:blip r:embed="rId2"/>
          <a:stretch>
            <a:fillRect/>
          </a:stretch>
        </p:blipFill>
        <p:spPr>
          <a:xfrm>
            <a:off x="649223" y="1700784"/>
            <a:ext cx="10863072" cy="4251960"/>
          </a:xfrm>
          <a:prstGeom prst="rect">
            <a:avLst/>
          </a:prstGeom>
        </p:spPr>
      </p:pic>
      <p:sp>
        <p:nvSpPr>
          <p:cNvPr id="8" name="TextBox 7"/>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AP test 0.194 | ROC-AUC 0.782 | prevalensi 3.6%.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11 / CALIBRATION DIAGNOSTIC</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Apakah probabilitas dapat dipercaya?</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24</a:t>
            </a:r>
          </a:p>
        </p:txBody>
      </p:sp>
      <p:pic>
        <p:nvPicPr>
          <p:cNvPr id="7" name="Picture 6" descr="calibration.png"/>
          <p:cNvPicPr>
            <a:picLocks noChangeAspect="1"/>
          </p:cNvPicPr>
          <p:nvPr/>
        </p:nvPicPr>
        <p:blipFill>
          <a:blip r:embed="rId2"/>
          <a:stretch>
            <a:fillRect/>
          </a:stretch>
        </p:blipFill>
        <p:spPr>
          <a:xfrm>
            <a:off x="2537459" y="1700784"/>
            <a:ext cx="7086600" cy="4251960"/>
          </a:xfrm>
          <a:prstGeom prst="rect">
            <a:avLst/>
          </a:prstGeom>
        </p:spPr>
      </p:pic>
      <p:sp>
        <p:nvSpPr>
          <p:cNvPr id="8" name="TextBox 7"/>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Brier test 0.0319; grafik adalah diagnostik, bukan klaim telah melakukan recalibration.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12 / OPERATIONAL EVALUATION</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Ranking bulanan sesuai kapasitas kontak</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25</a:t>
            </a:r>
          </a:p>
        </p:txBody>
      </p:sp>
      <p:pic>
        <p:nvPicPr>
          <p:cNvPr id="7" name="Picture 6" descr="decile_lift.png"/>
          <p:cNvPicPr>
            <a:picLocks noChangeAspect="1"/>
          </p:cNvPicPr>
          <p:nvPr/>
        </p:nvPicPr>
        <p:blipFill>
          <a:blip r:embed="rId2"/>
          <a:stretch>
            <a:fillRect/>
          </a:stretch>
        </p:blipFill>
        <p:spPr>
          <a:xfrm>
            <a:off x="2007107" y="1700784"/>
            <a:ext cx="8147304" cy="4251960"/>
          </a:xfrm>
          <a:prstGeom prst="rect">
            <a:avLst/>
          </a:prstGeom>
        </p:spPr>
      </p:pic>
      <p:sp>
        <p:nvSpPr>
          <p:cNvPr id="8" name="TextBox 7"/>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Top 10%: precision 14.1%, recall 39.1%, lift 3.90x.</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12 / ERROR ANALYSIS</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Threshold tetap dan top-K berbeda</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26</a:t>
            </a:r>
          </a:p>
        </p:txBody>
      </p:sp>
      <p:pic>
        <p:nvPicPr>
          <p:cNvPr id="7" name="Picture 6" descr="confusion_matrix.png"/>
          <p:cNvPicPr>
            <a:picLocks noChangeAspect="1"/>
          </p:cNvPicPr>
          <p:nvPr/>
        </p:nvPicPr>
        <p:blipFill>
          <a:blip r:embed="rId2"/>
          <a:stretch>
            <a:fillRect/>
          </a:stretch>
        </p:blipFill>
        <p:spPr>
          <a:xfrm>
            <a:off x="3049523" y="1700784"/>
            <a:ext cx="6062472" cy="4251960"/>
          </a:xfrm>
          <a:prstGeom prst="rect">
            <a:avLst/>
          </a:prstGeom>
        </p:spPr>
      </p:pic>
      <p:sp>
        <p:nvSpPr>
          <p:cNvPr id="8" name="TextBox 7"/>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Threshold validation = 0.0524; jumlah kandidat per bulan bisa berubah.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12 / STATISTICAL LIMITS</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Ketidakpastian dan nasabah yang berulang</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27</a:t>
            </a:r>
          </a:p>
        </p:txBody>
      </p:sp>
      <p:sp>
        <p:nvSpPr>
          <p:cNvPr id="7" name="Rectangle 6"/>
          <p:cNvSpPr/>
          <p:nvPr/>
        </p:nvSpPr>
        <p:spPr>
          <a:xfrm>
            <a:off x="594360"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Bootstrap nasabah</a:t>
            </a:r>
          </a:p>
        </p:txBody>
      </p:sp>
      <p:sp>
        <p:nvSpPr>
          <p:cNvPr id="10" name="TextBox 9"/>
          <p:cNvSpPr txBox="1"/>
          <p:nvPr/>
        </p:nvSpPr>
        <p:spPr>
          <a:xfrm>
            <a:off x="795528"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Sampling ulang ID nasabah mempertahankan seluruh</a:t>
            </a:r>
          </a:p>
          <a:p>
            <a:pPr>
              <a:lnSpc>
                <a:spcPct val="118000"/>
              </a:lnSpc>
              <a:spcBef>
                <a:spcPts val="0"/>
              </a:spcBef>
              <a:spcAft>
                <a:spcPts val="0"/>
              </a:spcAft>
              <a:defRPr sz="1500" b="0">
                <a:solidFill>
                  <a:srgbClr val="BDD0E2"/>
                </a:solidFill>
                <a:latin typeface="DejaVu Sans"/>
              </a:defRPr>
            </a:pPr>
            <a:r>
              <a:t>snapshot milik ID tersebut.</a:t>
            </a:r>
          </a:p>
        </p:txBody>
      </p:sp>
      <p:sp>
        <p:nvSpPr>
          <p:cNvPr id="11" name="Rectangle 10"/>
          <p:cNvSpPr/>
          <p:nvPr/>
        </p:nvSpPr>
        <p:spPr>
          <a:xfrm>
            <a:off x="6190488"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Interval AP</a:t>
            </a:r>
          </a:p>
        </p:txBody>
      </p:sp>
      <p:sp>
        <p:nvSpPr>
          <p:cNvPr id="14" name="TextBox 13"/>
          <p:cNvSpPr txBox="1"/>
          <p:nvPr/>
        </p:nvSpPr>
        <p:spPr>
          <a:xfrm>
            <a:off x="6391656"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95%: 0.164–0.222.</a:t>
            </a:r>
          </a:p>
        </p:txBody>
      </p:sp>
      <p:sp>
        <p:nvSpPr>
          <p:cNvPr id="15" name="Rectangle 14"/>
          <p:cNvSpPr/>
          <p:nvPr/>
        </p:nvSpPr>
        <p:spPr>
          <a:xfrm>
            <a:off x="594360"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Interval lift</a:t>
            </a:r>
          </a:p>
        </p:txBody>
      </p:sp>
      <p:sp>
        <p:nvSpPr>
          <p:cNvPr id="18" name="TextBox 17"/>
          <p:cNvSpPr txBox="1"/>
          <p:nvPr/>
        </p:nvSpPr>
        <p:spPr>
          <a:xfrm>
            <a:off x="795528"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95%: 3.49–4.22x.</a:t>
            </a:r>
          </a:p>
        </p:txBody>
      </p:sp>
      <p:sp>
        <p:nvSpPr>
          <p:cNvPr id="19" name="Rectangle 18"/>
          <p:cNvSpPr/>
          <p:nvPr/>
        </p:nvSpPr>
        <p:spPr>
          <a:xfrm>
            <a:off x="6190488"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0488"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Batas interpretasi</a:t>
            </a:r>
          </a:p>
        </p:txBody>
      </p:sp>
      <p:sp>
        <p:nvSpPr>
          <p:cNvPr id="22" name="TextBox 21"/>
          <p:cNvSpPr txBox="1"/>
          <p:nvPr/>
        </p:nvSpPr>
        <p:spPr>
          <a:xfrm>
            <a:off x="6391656"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Model tetap; shock waktu bersama dan seluruh</a:t>
            </a:r>
          </a:p>
          <a:p>
            <a:pPr>
              <a:lnSpc>
                <a:spcPct val="118000"/>
              </a:lnSpc>
              <a:spcBef>
                <a:spcPts val="0"/>
              </a:spcBef>
              <a:spcAft>
                <a:spcPts val="0"/>
              </a:spcAft>
              <a:defRPr sz="1500" b="0">
                <a:solidFill>
                  <a:srgbClr val="BDD0E2"/>
                </a:solidFill>
                <a:latin typeface="DejaVu Sans"/>
              </a:defRPr>
            </a:pPr>
            <a:r>
              <a:t>ketidakpastian seleksi model belum tercakup.</a:t>
            </a:r>
          </a:p>
        </p:txBody>
      </p:sp>
      <p:sp>
        <p:nvSpPr>
          <p:cNvPr id="23" name="TextBox 22"/>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120 pengulangan adalah ilustrasi praktikum, bukan jaminan coverage pada semua proses bisnis.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13 / EXPLAINABILITY</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Apa yang digunakan model untuk meranking?</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28</a:t>
            </a:r>
          </a:p>
        </p:txBody>
      </p:sp>
      <p:pic>
        <p:nvPicPr>
          <p:cNvPr id="7" name="Picture 6" descr="feature_importance.png"/>
          <p:cNvPicPr>
            <a:picLocks noChangeAspect="1"/>
          </p:cNvPicPr>
          <p:nvPr/>
        </p:nvPicPr>
        <p:blipFill>
          <a:blip r:embed="rId2"/>
          <a:stretch>
            <a:fillRect/>
          </a:stretch>
        </p:blipFill>
        <p:spPr>
          <a:xfrm>
            <a:off x="1403603" y="1700784"/>
            <a:ext cx="9354312" cy="4251960"/>
          </a:xfrm>
          <a:prstGeom prst="rect">
            <a:avLst/>
          </a:prstGeom>
        </p:spPr>
      </p:pic>
      <p:sp>
        <p:nvSpPr>
          <p:cNvPr id="8" name="TextBox 7"/>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Importance dihitung pada validation, sehingga final test tidak dipakai untuk memilih fitur.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13 / EVIDENCE AND HYPOTHESES</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Menjawab misteri tanpa klaim berlebihan</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29</a:t>
            </a:r>
          </a:p>
        </p:txBody>
      </p:sp>
      <p:sp>
        <p:nvSpPr>
          <p:cNvPr id="7" name="Rectangle 6"/>
          <p:cNvSpPr/>
          <p:nvPr/>
        </p:nvSpPr>
        <p:spPr>
          <a:xfrm>
            <a:off x="594360"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Bertahan setelah harga naik</a:t>
            </a:r>
          </a:p>
        </p:txBody>
      </p:sp>
      <p:sp>
        <p:nvSpPr>
          <p:cNvPr id="10" name="TextBox 9"/>
          <p:cNvSpPr txBox="1"/>
          <p:nvPr/>
        </p:nvSpPr>
        <p:spPr>
          <a:xfrm>
            <a:off x="795528"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Periksa inertia, autodebit, nilai proteksi,</a:t>
            </a:r>
          </a:p>
          <a:p>
            <a:pPr>
              <a:lnSpc>
                <a:spcPct val="118000"/>
              </a:lnSpc>
              <a:spcBef>
                <a:spcPts val="0"/>
              </a:spcBef>
              <a:spcAft>
                <a:spcPts val="0"/>
              </a:spcAft>
              <a:defRPr sz="1500" b="0">
                <a:solidFill>
                  <a:srgbClr val="BDD0E2"/>
                </a:solidFill>
                <a:latin typeface="DejaVu Sans"/>
              </a:defRPr>
            </a:pPr>
            <a:r>
              <a:t>renewal timing dan perubahan mix nasabah.</a:t>
            </a:r>
          </a:p>
        </p:txBody>
      </p:sp>
      <p:sp>
        <p:nvSpPr>
          <p:cNvPr id="11" name="Rectangle 10"/>
          <p:cNvSpPr/>
          <p:nvPr/>
        </p:nvSpPr>
        <p:spPr>
          <a:xfrm>
            <a:off x="6190488"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Churn meningkat kemudian</a:t>
            </a:r>
          </a:p>
        </p:txBody>
      </p:sp>
      <p:sp>
        <p:nvSpPr>
          <p:cNvPr id="14" name="TextBox 13"/>
          <p:cNvSpPr txBox="1"/>
          <p:nvPr/>
        </p:nvSpPr>
        <p:spPr>
          <a:xfrm>
            <a:off x="6391656"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Cari kenaikan tunggakan, keluhan, cluster</a:t>
            </a:r>
          </a:p>
          <a:p>
            <a:pPr>
              <a:lnSpc>
                <a:spcPct val="118000"/>
              </a:lnSpc>
              <a:spcBef>
                <a:spcPts val="0"/>
              </a:spcBef>
              <a:spcAft>
                <a:spcPts val="0"/>
              </a:spcAft>
              <a:defRPr sz="1500" b="0">
                <a:solidFill>
                  <a:srgbClr val="BDD0E2"/>
                </a:solidFill>
                <a:latin typeface="DejaVu Sans"/>
              </a:defRPr>
            </a:pPr>
            <a:r>
              <a:t>renewal dan perubahan pencatatan lapse.</a:t>
            </a:r>
          </a:p>
        </p:txBody>
      </p:sp>
      <p:sp>
        <p:nvSpPr>
          <p:cNvPr id="15" name="Rectangle 14"/>
          <p:cNvSpPr/>
          <p:nvPr/>
        </p:nvSpPr>
        <p:spPr>
          <a:xfrm>
            <a:off x="594360"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Akuisisi meningkat</a:t>
            </a:r>
          </a:p>
        </p:txBody>
      </p:sp>
      <p:sp>
        <p:nvSpPr>
          <p:cNvPr id="18" name="TextBox 17"/>
          <p:cNvSpPr txBox="1"/>
          <p:nvPr/>
        </p:nvSpPr>
        <p:spPr>
          <a:xfrm>
            <a:off x="795528"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Cari minat pencarian, referral, berita proteksi,</a:t>
            </a:r>
          </a:p>
          <a:p>
            <a:pPr>
              <a:lnSpc>
                <a:spcPct val="118000"/>
              </a:lnSpc>
              <a:spcBef>
                <a:spcPts val="0"/>
              </a:spcBef>
              <a:spcAft>
                <a:spcPts val="0"/>
              </a:spcAft>
              <a:defRPr sz="1500" b="0">
                <a:solidFill>
                  <a:srgbClr val="BDD0E2"/>
                </a:solidFill>
                <a:latin typeface="DejaVu Sans"/>
              </a:defRPr>
            </a:pPr>
            <a:r>
              <a:t>channel dan jeda campaign.</a:t>
            </a:r>
          </a:p>
        </p:txBody>
      </p:sp>
      <p:sp>
        <p:nvSpPr>
          <p:cNvPr id="19" name="Rectangle 18"/>
          <p:cNvSpPr/>
          <p:nvPr/>
        </p:nvSpPr>
        <p:spPr>
          <a:xfrm>
            <a:off x="6190488"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0488"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Data tambahan</a:t>
            </a:r>
          </a:p>
        </p:txBody>
      </p:sp>
      <p:sp>
        <p:nvSpPr>
          <p:cNvPr id="22" name="TextBox 21"/>
          <p:cNvSpPr txBox="1"/>
          <p:nvPr/>
        </p:nvSpPr>
        <p:spPr>
          <a:xfrm>
            <a:off x="6391656"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Exposure per nasabah, alasan cancel, grace</a:t>
            </a:r>
          </a:p>
          <a:p>
            <a:pPr>
              <a:lnSpc>
                <a:spcPct val="118000"/>
              </a:lnSpc>
              <a:spcBef>
                <a:spcPts val="0"/>
              </a:spcBef>
              <a:spcAft>
                <a:spcPts val="0"/>
              </a:spcAft>
              <a:defRPr sz="1500" b="0">
                <a:solidFill>
                  <a:srgbClr val="BDD0E2"/>
                </a:solidFill>
                <a:latin typeface="DejaVu Sans"/>
              </a:defRPr>
            </a:pPr>
            <a:r>
              <a:t>period, kompetitor dan timestamp rilis makro.</a:t>
            </a:r>
          </a:p>
        </p:txBody>
      </p:sp>
      <p:sp>
        <p:nvSpPr>
          <p:cNvPr id="23" name="TextBox 22"/>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Tidak signifikan secara statistik membutuhkan desain uji; grafik yang tampak datar belum cukup.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14 / WEEKLY DEMAND MODEL</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Akuisisi memerlukan model sendiri</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30</a:t>
            </a:r>
          </a:p>
        </p:txBody>
      </p:sp>
      <p:sp>
        <p:nvSpPr>
          <p:cNvPr id="7" name="Rectangle 6"/>
          <p:cNvSpPr/>
          <p:nvPr/>
        </p:nvSpPr>
        <p:spPr>
          <a:xfrm>
            <a:off x="594360"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Baseline lag-1</a:t>
            </a:r>
          </a:p>
        </p:txBody>
      </p:sp>
      <p:sp>
        <p:nvSpPr>
          <p:cNvPr id="10" name="TextBox 9"/>
          <p:cNvSpPr txBox="1"/>
          <p:nvPr/>
        </p:nvSpPr>
        <p:spPr>
          <a:xfrm>
            <a:off x="795528"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Perkiraan minggu ini = polis baru minggu lalu,</a:t>
            </a:r>
          </a:p>
          <a:p>
            <a:pPr>
              <a:lnSpc>
                <a:spcPct val="118000"/>
              </a:lnSpc>
              <a:spcBef>
                <a:spcPts val="0"/>
              </a:spcBef>
              <a:spcAft>
                <a:spcPts val="0"/>
              </a:spcAft>
              <a:defRPr sz="1500" b="0">
                <a:solidFill>
                  <a:srgbClr val="BDD0E2"/>
                </a:solidFill>
                <a:latin typeface="DejaVu Sans"/>
              </a:defRPr>
            </a:pPr>
            <a:r>
              <a:t>per wilayah.</a:t>
            </a:r>
          </a:p>
        </p:txBody>
      </p:sp>
      <p:sp>
        <p:nvSpPr>
          <p:cNvPr id="11" name="Rectangle 10"/>
          <p:cNvSpPr/>
          <p:nvPr/>
        </p:nvSpPr>
        <p:spPr>
          <a:xfrm>
            <a:off x="6190488"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Poisson regression</a:t>
            </a:r>
          </a:p>
        </p:txBody>
      </p:sp>
      <p:sp>
        <p:nvSpPr>
          <p:cNvPr id="14" name="TextBox 13"/>
          <p:cNvSpPr txBox="1"/>
          <p:nvPr/>
        </p:nvSpPr>
        <p:spPr>
          <a:xfrm>
            <a:off x="6391656"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Model mean hitungan nonnegatif menggunakan log</a:t>
            </a:r>
          </a:p>
          <a:p>
            <a:pPr>
              <a:lnSpc>
                <a:spcPct val="118000"/>
              </a:lnSpc>
              <a:spcBef>
                <a:spcPts val="0"/>
              </a:spcBef>
              <a:spcAft>
                <a:spcPts val="0"/>
              </a:spcAft>
              <a:defRPr sz="1500" b="0">
                <a:solidFill>
                  <a:srgbClr val="BDD0E2"/>
                </a:solidFill>
                <a:latin typeface="DejaVu Sans"/>
              </a:defRPr>
            </a:pPr>
            <a:r>
              <a:t>link dan regularisasi.</a:t>
            </a:r>
          </a:p>
        </p:txBody>
      </p:sp>
      <p:sp>
        <p:nvSpPr>
          <p:cNvPr id="15" name="Rectangle 14"/>
          <p:cNvSpPr/>
          <p:nvPr/>
        </p:nvSpPr>
        <p:spPr>
          <a:xfrm>
            <a:off x="594360"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Fitur sebelum minggu</a:t>
            </a:r>
          </a:p>
        </p:txBody>
      </p:sp>
      <p:sp>
        <p:nvSpPr>
          <p:cNvPr id="18" name="TextBox 17"/>
          <p:cNvSpPr txBox="1"/>
          <p:nvPr/>
        </p:nvSpPr>
        <p:spPr>
          <a:xfrm>
            <a:off x="795528"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Lag polis, lead, pencarian, referral; campaign</a:t>
            </a:r>
          </a:p>
          <a:p>
            <a:pPr>
              <a:lnSpc>
                <a:spcPct val="118000"/>
              </a:lnSpc>
              <a:spcBef>
                <a:spcPts val="0"/>
              </a:spcBef>
              <a:spcAft>
                <a:spcPts val="0"/>
              </a:spcAft>
              <a:defRPr sz="1500" b="0">
                <a:solidFill>
                  <a:srgbClr val="BDD0E2"/>
                </a:solidFill>
                <a:latin typeface="DejaVu Sans"/>
              </a:defRPr>
            </a:pPr>
            <a:r>
              <a:t>terencana dan campaign dua minggu lalu.</a:t>
            </a:r>
          </a:p>
        </p:txBody>
      </p:sp>
      <p:sp>
        <p:nvSpPr>
          <p:cNvPr id="19" name="Rectangle 18"/>
          <p:cNvSpPr/>
          <p:nvPr/>
        </p:nvSpPr>
        <p:spPr>
          <a:xfrm>
            <a:off x="6190488"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0488"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Evaluasi</a:t>
            </a:r>
          </a:p>
        </p:txBody>
      </p:sp>
      <p:sp>
        <p:nvSpPr>
          <p:cNvPr id="22" name="TextBox 21"/>
          <p:cNvSpPr txBox="1"/>
          <p:nvPr/>
        </p:nvSpPr>
        <p:spPr>
          <a:xfrm>
            <a:off x="6391656"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Split berdasarkan minggu untuk seluruh wilayah</a:t>
            </a:r>
          </a:p>
          <a:p>
            <a:pPr>
              <a:lnSpc>
                <a:spcPct val="118000"/>
              </a:lnSpc>
              <a:spcBef>
                <a:spcPts val="0"/>
              </a:spcBef>
              <a:spcAft>
                <a:spcPts val="0"/>
              </a:spcAft>
              <a:defRPr sz="1500" b="0">
                <a:solidFill>
                  <a:srgbClr val="BDD0E2"/>
                </a:solidFill>
                <a:latin typeface="DejaVu Sans"/>
              </a:defRPr>
            </a:pPr>
            <a:r>
              <a:t>sekaligus; MAE total dan WAPE.</a:t>
            </a:r>
          </a:p>
        </p:txBody>
      </p:sp>
      <p:sp>
        <p:nvSpPr>
          <p:cNvPr id="23" name="TextBox 22"/>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Actual minggu sebelumnya tersedia di setiap origin; ini backtest satu minggu ke depan.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14 / ACQUISITION RESULTS</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Prediksi akuisisi dibandingkan actual</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31</a:t>
            </a:r>
          </a:p>
        </p:txBody>
      </p:sp>
      <p:pic>
        <p:nvPicPr>
          <p:cNvPr id="7" name="Picture 6" descr="acquisition_forecast.png"/>
          <p:cNvPicPr>
            <a:picLocks noChangeAspect="1"/>
          </p:cNvPicPr>
          <p:nvPr/>
        </p:nvPicPr>
        <p:blipFill>
          <a:blip r:embed="rId2"/>
          <a:stretch>
            <a:fillRect/>
          </a:stretch>
        </p:blipFill>
        <p:spPr>
          <a:xfrm>
            <a:off x="594360" y="1723644"/>
            <a:ext cx="10972800" cy="4206240"/>
          </a:xfrm>
          <a:prstGeom prst="rect">
            <a:avLst/>
          </a:prstGeom>
        </p:spPr>
      </p:pic>
      <p:sp>
        <p:nvSpPr>
          <p:cNvPr id="8" name="TextBox 7"/>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poisson_regression | MAE total 10.8 polis/minggu | WAPE 7.6%.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14 / ANOMALY TRIAGE</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Residual menjadi antrean investigasi</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32</a:t>
            </a:r>
          </a:p>
        </p:txBody>
      </p:sp>
      <p:sp>
        <p:nvSpPr>
          <p:cNvPr id="7" name="Rectangle 6"/>
          <p:cNvSpPr/>
          <p:nvPr/>
        </p:nvSpPr>
        <p:spPr>
          <a:xfrm>
            <a:off x="594360"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Definisi</a:t>
            </a:r>
          </a:p>
        </p:txBody>
      </p:sp>
      <p:sp>
        <p:nvSpPr>
          <p:cNvPr id="10" name="TextBox 9"/>
          <p:cNvSpPr txBox="1"/>
          <p:nvPr/>
        </p:nvSpPr>
        <p:spPr>
          <a:xfrm>
            <a:off x="795528"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Residual = actual polis baru - prediksi pada</a:t>
            </a:r>
          </a:p>
          <a:p>
            <a:pPr>
              <a:lnSpc>
                <a:spcPct val="118000"/>
              </a:lnSpc>
              <a:spcBef>
                <a:spcPts val="0"/>
              </a:spcBef>
              <a:spcAft>
                <a:spcPts val="0"/>
              </a:spcAft>
              <a:defRPr sz="1500" b="0">
                <a:solidFill>
                  <a:srgbClr val="BDD0E2"/>
                </a:solidFill>
                <a:latin typeface="DejaVu Sans"/>
              </a:defRPr>
            </a:pPr>
            <a:r>
              <a:t>wilayah dan minggu yang sama.</a:t>
            </a:r>
          </a:p>
        </p:txBody>
      </p:sp>
      <p:sp>
        <p:nvSpPr>
          <p:cNvPr id="11" name="Rectangle 10"/>
          <p:cNvSpPr/>
          <p:nvPr/>
        </p:nvSpPr>
        <p:spPr>
          <a:xfrm>
            <a:off x="6190488"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Aturan praktikum</a:t>
            </a:r>
          </a:p>
        </p:txBody>
      </p:sp>
      <p:sp>
        <p:nvSpPr>
          <p:cNvPr id="14" name="TextBox 13"/>
          <p:cNvSpPr txBox="1"/>
          <p:nvPr/>
        </p:nvSpPr>
        <p:spPr>
          <a:xfrm>
            <a:off x="6391656"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Flag di luar quantile 2.5%–97.5% residual</a:t>
            </a:r>
          </a:p>
          <a:p>
            <a:pPr>
              <a:lnSpc>
                <a:spcPct val="118000"/>
              </a:lnSpc>
              <a:spcBef>
                <a:spcPts val="0"/>
              </a:spcBef>
              <a:spcAft>
                <a:spcPts val="0"/>
              </a:spcAft>
              <a:defRPr sz="1500" b="0">
                <a:solidFill>
                  <a:srgbClr val="BDD0E2"/>
                </a:solidFill>
                <a:latin typeface="DejaVu Sans"/>
              </a:defRPr>
            </a:pPr>
            <a:r>
              <a:t>validation.</a:t>
            </a:r>
          </a:p>
        </p:txBody>
      </p:sp>
      <p:sp>
        <p:nvSpPr>
          <p:cNvPr id="15" name="Rectangle 14"/>
          <p:cNvSpPr/>
          <p:nvPr/>
        </p:nvSpPr>
        <p:spPr>
          <a:xfrm>
            <a:off x="594360"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Investigasi</a:t>
            </a:r>
          </a:p>
        </p:txBody>
      </p:sp>
      <p:sp>
        <p:nvSpPr>
          <p:cNvPr id="18" name="TextBox 17"/>
          <p:cNvSpPr txBox="1"/>
          <p:nvPr/>
        </p:nvSpPr>
        <p:spPr>
          <a:xfrm>
            <a:off x="795528"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Cek tracking, event lokal, kanal baru, referral,</a:t>
            </a:r>
          </a:p>
          <a:p>
            <a:pPr>
              <a:lnSpc>
                <a:spcPct val="118000"/>
              </a:lnSpc>
              <a:spcBef>
                <a:spcPts val="0"/>
              </a:spcBef>
              <a:spcAft>
                <a:spcPts val="0"/>
              </a:spcAft>
              <a:defRPr sz="1500" b="0">
                <a:solidFill>
                  <a:srgbClr val="BDD0E2"/>
                </a:solidFill>
                <a:latin typeface="DejaVu Sans"/>
              </a:defRPr>
            </a:pPr>
            <a:r>
              <a:t>pesaing dan perubahan underwriting.</a:t>
            </a:r>
          </a:p>
        </p:txBody>
      </p:sp>
      <p:sp>
        <p:nvSpPr>
          <p:cNvPr id="19" name="Rectangle 18"/>
          <p:cNvSpPr/>
          <p:nvPr/>
        </p:nvSpPr>
        <p:spPr>
          <a:xfrm>
            <a:off x="6190488"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0488"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Batas</a:t>
            </a:r>
          </a:p>
        </p:txBody>
      </p:sp>
      <p:sp>
        <p:nvSpPr>
          <p:cNvPr id="22" name="TextBox 21"/>
          <p:cNvSpPr txBox="1"/>
          <p:nvPr/>
        </p:nvSpPr>
        <p:spPr>
          <a:xfrm>
            <a:off x="6391656"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Aturan residual bukan interval prediksi</a:t>
            </a:r>
          </a:p>
          <a:p>
            <a:pPr>
              <a:lnSpc>
                <a:spcPct val="118000"/>
              </a:lnSpc>
              <a:spcBef>
                <a:spcPts val="0"/>
              </a:spcBef>
              <a:spcAft>
                <a:spcPts val="0"/>
              </a:spcAft>
              <a:defRPr sz="1500" b="0">
                <a:solidFill>
                  <a:srgbClr val="BDD0E2"/>
                </a:solidFill>
                <a:latin typeface="DejaVu Sans"/>
              </a:defRPr>
            </a:pPr>
            <a:r>
              <a:t>terkalibrasi; rate false alarm perlu dipantau.</a:t>
            </a:r>
          </a:p>
        </p:txBody>
      </p:sp>
      <p:sp>
        <p:nvSpPr>
          <p:cNvPr id="23" name="TextBox 22"/>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Anomali adalah pertanyaan operasional yang diprioritaskan, bukan penjelasan otomatis.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15 / RETENTION PLAYBOOK</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Dari skor risiko ke tindakan layanan</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33</a:t>
            </a:r>
          </a:p>
        </p:txBody>
      </p:sp>
      <p:sp>
        <p:nvSpPr>
          <p:cNvPr id="7" name="Rectangle 6"/>
          <p:cNvSpPr/>
          <p:nvPr/>
        </p:nvSpPr>
        <p:spPr>
          <a:xfrm>
            <a:off x="594360"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Keluhan</a:t>
            </a:r>
          </a:p>
        </p:txBody>
      </p:sp>
      <p:sp>
        <p:nvSpPr>
          <p:cNvPr id="10" name="TextBox 9"/>
          <p:cNvSpPr txBox="1"/>
          <p:nvPr/>
        </p:nvSpPr>
        <p:spPr>
          <a:xfrm>
            <a:off x="795528"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Tinjau keluhan belum selesai dan uji service</a:t>
            </a:r>
          </a:p>
          <a:p>
            <a:pPr>
              <a:lnSpc>
                <a:spcPct val="118000"/>
              </a:lnSpc>
              <a:spcBef>
                <a:spcPts val="0"/>
              </a:spcBef>
              <a:spcAft>
                <a:spcPts val="0"/>
              </a:spcAft>
              <a:defRPr sz="1500" b="0">
                <a:solidFill>
                  <a:srgbClr val="BDD0E2"/>
                </a:solidFill>
                <a:latin typeface="DejaVu Sans"/>
              </a:defRPr>
            </a:pPr>
            <a:r>
              <a:t>recovery yang relevan.</a:t>
            </a:r>
          </a:p>
        </p:txBody>
      </p:sp>
      <p:sp>
        <p:nvSpPr>
          <p:cNvPr id="11" name="Rectangle 10"/>
          <p:cNvSpPr/>
          <p:nvPr/>
        </p:nvSpPr>
        <p:spPr>
          <a:xfrm>
            <a:off x="6190488"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Pembayaran</a:t>
            </a:r>
          </a:p>
        </p:txBody>
      </p:sp>
      <p:sp>
        <p:nvSpPr>
          <p:cNvPr id="14" name="TextBox 13"/>
          <p:cNvSpPr txBox="1"/>
          <p:nvPr/>
        </p:nvSpPr>
        <p:spPr>
          <a:xfrm>
            <a:off x="6391656"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Tawarkan bantuan dan penjelasan opsi pembayaran</a:t>
            </a:r>
          </a:p>
          <a:p>
            <a:pPr>
              <a:lnSpc>
                <a:spcPct val="118000"/>
              </a:lnSpc>
              <a:spcBef>
                <a:spcPts val="0"/>
              </a:spcBef>
              <a:spcAft>
                <a:spcPts val="0"/>
              </a:spcAft>
              <a:defRPr sz="1500" b="0">
                <a:solidFill>
                  <a:srgbClr val="BDD0E2"/>
                </a:solidFill>
                <a:latin typeface="DejaVu Sans"/>
              </a:defRPr>
            </a:pPr>
            <a:r>
              <a:t>sesuai kebijakan perusahaan.</a:t>
            </a:r>
          </a:p>
        </p:txBody>
      </p:sp>
      <p:sp>
        <p:nvSpPr>
          <p:cNvPr id="15" name="Rectangle 14"/>
          <p:cNvSpPr/>
          <p:nvPr/>
        </p:nvSpPr>
        <p:spPr>
          <a:xfrm>
            <a:off x="594360"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Renewal</a:t>
            </a:r>
          </a:p>
        </p:txBody>
      </p:sp>
      <p:sp>
        <p:nvSpPr>
          <p:cNvPr id="18" name="TextBox 17"/>
          <p:cNvSpPr txBox="1"/>
          <p:nvPr/>
        </p:nvSpPr>
        <p:spPr>
          <a:xfrm>
            <a:off x="795528"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Berikan pengingat dan penjelasan manfaat sebelum</a:t>
            </a:r>
          </a:p>
          <a:p>
            <a:pPr>
              <a:lnSpc>
                <a:spcPct val="118000"/>
              </a:lnSpc>
              <a:spcBef>
                <a:spcPts val="0"/>
              </a:spcBef>
              <a:spcAft>
                <a:spcPts val="0"/>
              </a:spcAft>
              <a:defRPr sz="1500" b="0">
                <a:solidFill>
                  <a:srgbClr val="BDD0E2"/>
                </a:solidFill>
                <a:latin typeface="DejaVu Sans"/>
              </a:defRPr>
            </a:pPr>
            <a:r>
              <a:t>keputusan pembaruan.</a:t>
            </a:r>
          </a:p>
        </p:txBody>
      </p:sp>
      <p:sp>
        <p:nvSpPr>
          <p:cNvPr id="19" name="Rectangle 18"/>
          <p:cNvSpPr/>
          <p:nvPr/>
        </p:nvSpPr>
        <p:spPr>
          <a:xfrm>
            <a:off x="6190488"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0488"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Prioritas</a:t>
            </a:r>
          </a:p>
        </p:txBody>
      </p:sp>
      <p:sp>
        <p:nvSpPr>
          <p:cNvPr id="22" name="TextBox 21"/>
          <p:cNvSpPr txBox="1"/>
          <p:nvPr/>
        </p:nvSpPr>
        <p:spPr>
          <a:xfrm>
            <a:off x="6391656"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Gabungkan risiko, nilai, kapasitas dan respons</a:t>
            </a:r>
          </a:p>
          <a:p>
            <a:pPr>
              <a:lnSpc>
                <a:spcPct val="118000"/>
              </a:lnSpc>
              <a:spcBef>
                <a:spcPts val="0"/>
              </a:spcBef>
              <a:spcAft>
                <a:spcPts val="0"/>
              </a:spcAft>
              <a:defRPr sz="1500" b="0">
                <a:solidFill>
                  <a:srgbClr val="BDD0E2"/>
                </a:solidFill>
                <a:latin typeface="DejaVu Sans"/>
              </a:defRPr>
            </a:pPr>
            <a:r>
              <a:t>intervensi yang terukur.</a:t>
            </a:r>
          </a:p>
        </p:txBody>
      </p:sp>
      <p:sp>
        <p:nvSpPr>
          <p:cNvPr id="23" name="TextBox 22"/>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Risiko churn tinggi tidak otomatis berarti nasabah mudah diselamatkan.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15 / DECISION ECONOMICS</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Nilai bisnis bergantung pada efek yang belum diukur</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34</a:t>
            </a:r>
          </a:p>
        </p:txBody>
      </p:sp>
      <p:pic>
        <p:nvPicPr>
          <p:cNvPr id="7" name="Picture 6" descr="business_sensitivity.png"/>
          <p:cNvPicPr>
            <a:picLocks noChangeAspect="1"/>
          </p:cNvPicPr>
          <p:nvPr/>
        </p:nvPicPr>
        <p:blipFill>
          <a:blip r:embed="rId2"/>
          <a:stretch>
            <a:fillRect/>
          </a:stretch>
        </p:blipFill>
        <p:spPr>
          <a:xfrm>
            <a:off x="2007107" y="1700784"/>
            <a:ext cx="8147304" cy="4251960"/>
          </a:xfrm>
          <a:prstGeom prst="rect">
            <a:avLst/>
          </a:prstGeom>
        </p:spPr>
      </p:pic>
      <p:sp>
        <p:nvSpPr>
          <p:cNvPr id="8" name="TextBox 7"/>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E[net] = P(churn) x rescue_fraction x margin_terselamatkan - biaya kontak.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16 / CAUSAL EXPERIMENT</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Eksperimen retensi yang dapat menjawab dampak</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35</a:t>
            </a:r>
          </a:p>
        </p:txBody>
      </p:sp>
      <p:sp>
        <p:nvSpPr>
          <p:cNvPr id="7" name="Rectangle 6"/>
          <p:cNvSpPr/>
          <p:nvPr/>
        </p:nvSpPr>
        <p:spPr>
          <a:xfrm>
            <a:off x="594360"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Eligibility</a:t>
            </a:r>
          </a:p>
        </p:txBody>
      </p:sp>
      <p:sp>
        <p:nvSpPr>
          <p:cNvPr id="10" name="TextBox 9"/>
          <p:cNvSpPr txBox="1"/>
          <p:nvPr/>
        </p:nvSpPr>
        <p:spPr>
          <a:xfrm>
            <a:off x="795528"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Tetapkan kelompok eligible dan aturan kontak</a:t>
            </a:r>
          </a:p>
          <a:p>
            <a:pPr>
              <a:lnSpc>
                <a:spcPct val="118000"/>
              </a:lnSpc>
              <a:spcBef>
                <a:spcPts val="0"/>
              </a:spcBef>
              <a:spcAft>
                <a:spcPts val="0"/>
              </a:spcAft>
              <a:defRPr sz="1500" b="0">
                <a:solidFill>
                  <a:srgbClr val="BDD0E2"/>
                </a:solidFill>
                <a:latin typeface="DejaVu Sans"/>
              </a:defRPr>
            </a:pPr>
            <a:r>
              <a:t>sebelum randomisasi.</a:t>
            </a:r>
          </a:p>
        </p:txBody>
      </p:sp>
      <p:sp>
        <p:nvSpPr>
          <p:cNvPr id="11" name="Rectangle 10"/>
          <p:cNvSpPr/>
          <p:nvPr/>
        </p:nvSpPr>
        <p:spPr>
          <a:xfrm>
            <a:off x="6190488"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Randomisasi</a:t>
            </a:r>
          </a:p>
        </p:txBody>
      </p:sp>
      <p:sp>
        <p:nvSpPr>
          <p:cNvPr id="14" name="TextBox 13"/>
          <p:cNvSpPr txBox="1"/>
          <p:nvPr/>
        </p:nvSpPr>
        <p:spPr>
          <a:xfrm>
            <a:off x="6391656"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Treatment dan control pada nasabah, stratifikasi</a:t>
            </a:r>
          </a:p>
          <a:p>
            <a:pPr>
              <a:lnSpc>
                <a:spcPct val="118000"/>
              </a:lnSpc>
              <a:spcBef>
                <a:spcPts val="0"/>
              </a:spcBef>
              <a:spcAft>
                <a:spcPts val="0"/>
              </a:spcAft>
              <a:defRPr sz="1500" b="0">
                <a:solidFill>
                  <a:srgbClr val="BDD0E2"/>
                </a:solidFill>
                <a:latin typeface="DejaVu Sans"/>
              </a:defRPr>
            </a:pPr>
            <a:r>
              <a:t>risiko/wilayah bila diperlukan.</a:t>
            </a:r>
          </a:p>
        </p:txBody>
      </p:sp>
      <p:sp>
        <p:nvSpPr>
          <p:cNvPr id="15" name="Rectangle 14"/>
          <p:cNvSpPr/>
          <p:nvPr/>
        </p:nvSpPr>
        <p:spPr>
          <a:xfrm>
            <a:off x="594360"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Outcome utama</a:t>
            </a:r>
          </a:p>
        </p:txBody>
      </p:sp>
      <p:sp>
        <p:nvSpPr>
          <p:cNvPr id="18" name="TextBox 17"/>
          <p:cNvSpPr txBox="1"/>
          <p:nvPr/>
        </p:nvSpPr>
        <p:spPr>
          <a:xfrm>
            <a:off x="795528"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Selisih retention setelah horizon; intention-to-</a:t>
            </a:r>
          </a:p>
          <a:p>
            <a:pPr>
              <a:lnSpc>
                <a:spcPct val="118000"/>
              </a:lnSpc>
              <a:spcBef>
                <a:spcPts val="0"/>
              </a:spcBef>
              <a:spcAft>
                <a:spcPts val="0"/>
              </a:spcAft>
              <a:defRPr sz="1500" b="0">
                <a:solidFill>
                  <a:srgbClr val="BDD0E2"/>
                </a:solidFill>
                <a:latin typeface="DejaVu Sans"/>
              </a:defRPr>
            </a:pPr>
            <a:r>
              <a:t>treat; biaya dan margin incremental.</a:t>
            </a:r>
          </a:p>
        </p:txBody>
      </p:sp>
      <p:sp>
        <p:nvSpPr>
          <p:cNvPr id="19" name="Rectangle 18"/>
          <p:cNvSpPr/>
          <p:nvPr/>
        </p:nvSpPr>
        <p:spPr>
          <a:xfrm>
            <a:off x="6190488"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0488"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Guardrail</a:t>
            </a:r>
          </a:p>
        </p:txBody>
      </p:sp>
      <p:sp>
        <p:nvSpPr>
          <p:cNvPr id="22" name="TextBox 21"/>
          <p:cNvSpPr txBox="1"/>
          <p:nvPr/>
        </p:nvSpPr>
        <p:spPr>
          <a:xfrm>
            <a:off x="6391656"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Keluhan, beban kontak, opt-out, spillover dan</a:t>
            </a:r>
          </a:p>
          <a:p>
            <a:pPr>
              <a:lnSpc>
                <a:spcPct val="118000"/>
              </a:lnSpc>
              <a:spcBef>
                <a:spcPts val="0"/>
              </a:spcBef>
              <a:spcAft>
                <a:spcPts val="0"/>
              </a:spcAft>
              <a:defRPr sz="1500" b="0">
                <a:solidFill>
                  <a:srgbClr val="BDD0E2"/>
                </a:solidFill>
                <a:latin typeface="DejaVu Sans"/>
              </a:defRPr>
            </a:pPr>
            <a:r>
              <a:t>fairness per kelompok.</a:t>
            </a:r>
          </a:p>
        </p:txBody>
      </p:sp>
      <p:sp>
        <p:nvSpPr>
          <p:cNvPr id="23" name="TextBox 22"/>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Ukuran sampel memerlukan baseline, minimum detectable effect, power dan unit randomisasi.</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16 / ACQUISITION EXPERIMENT</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Eksperimen campaign yang memisahkan incrementality</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36</a:t>
            </a:r>
          </a:p>
        </p:txBody>
      </p:sp>
      <p:sp>
        <p:nvSpPr>
          <p:cNvPr id="7" name="Rectangle 6"/>
          <p:cNvSpPr/>
          <p:nvPr/>
        </p:nvSpPr>
        <p:spPr>
          <a:xfrm>
            <a:off x="594360"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Pertanyaan</a:t>
            </a:r>
          </a:p>
        </p:txBody>
      </p:sp>
      <p:sp>
        <p:nvSpPr>
          <p:cNvPr id="10" name="TextBox 9"/>
          <p:cNvSpPr txBox="1"/>
          <p:nvPr/>
        </p:nvSpPr>
        <p:spPr>
          <a:xfrm>
            <a:off x="795528"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Berapa polis tambahan yang tercipta dibanding</a:t>
            </a:r>
          </a:p>
          <a:p>
            <a:pPr>
              <a:lnSpc>
                <a:spcPct val="118000"/>
              </a:lnSpc>
              <a:spcBef>
                <a:spcPts val="0"/>
              </a:spcBef>
              <a:spcAft>
                <a:spcPts val="0"/>
              </a:spcAft>
              <a:defRPr sz="1500" b="0">
                <a:solidFill>
                  <a:srgbClr val="BDD0E2"/>
                </a:solidFill>
                <a:latin typeface="DejaVu Sans"/>
              </a:defRPr>
            </a:pPr>
            <a:r>
              <a:t>tidak menjalankan campaign?</a:t>
            </a:r>
          </a:p>
        </p:txBody>
      </p:sp>
      <p:sp>
        <p:nvSpPr>
          <p:cNvPr id="11" name="Rectangle 10"/>
          <p:cNvSpPr/>
          <p:nvPr/>
        </p:nvSpPr>
        <p:spPr>
          <a:xfrm>
            <a:off x="6190488"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Desain</a:t>
            </a:r>
          </a:p>
        </p:txBody>
      </p:sp>
      <p:sp>
        <p:nvSpPr>
          <p:cNvPr id="14" name="TextBox 13"/>
          <p:cNvSpPr txBox="1"/>
          <p:nvPr/>
        </p:nvSpPr>
        <p:spPr>
          <a:xfrm>
            <a:off x="6391656"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Randomized geo/channel holdout dengan wilayah</a:t>
            </a:r>
          </a:p>
          <a:p>
            <a:pPr>
              <a:lnSpc>
                <a:spcPct val="118000"/>
              </a:lnSpc>
              <a:spcBef>
                <a:spcPts val="0"/>
              </a:spcBef>
              <a:spcAft>
                <a:spcPts val="0"/>
              </a:spcAft>
              <a:defRPr sz="1500" b="0">
                <a:solidFill>
                  <a:srgbClr val="BDD0E2"/>
                </a:solidFill>
                <a:latin typeface="DejaVu Sans"/>
              </a:defRPr>
            </a:pPr>
            <a:r>
              <a:t>sebanding dan durasi mencakup lag.</a:t>
            </a:r>
          </a:p>
        </p:txBody>
      </p:sp>
      <p:sp>
        <p:nvSpPr>
          <p:cNvPr id="15" name="Rectangle 14"/>
          <p:cNvSpPr/>
          <p:nvPr/>
        </p:nvSpPr>
        <p:spPr>
          <a:xfrm>
            <a:off x="594360"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Ukuran sukses</a:t>
            </a:r>
          </a:p>
        </p:txBody>
      </p:sp>
      <p:sp>
        <p:nvSpPr>
          <p:cNvPr id="18" name="TextBox 17"/>
          <p:cNvSpPr txBox="1"/>
          <p:nvPr/>
        </p:nvSpPr>
        <p:spPr>
          <a:xfrm>
            <a:off x="795528"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Incremental policies dan margin setelah biaya;</a:t>
            </a:r>
          </a:p>
          <a:p>
            <a:pPr>
              <a:lnSpc>
                <a:spcPct val="118000"/>
              </a:lnSpc>
              <a:spcBef>
                <a:spcPts val="0"/>
              </a:spcBef>
              <a:spcAft>
                <a:spcPts val="0"/>
              </a:spcAft>
              <a:defRPr sz="1500" b="0">
                <a:solidFill>
                  <a:srgbClr val="BDD0E2"/>
                </a:solidFill>
                <a:latin typeface="DejaVu Sans"/>
              </a:defRPr>
            </a:pPr>
            <a:r>
              <a:t>attribution sendiri tidak cukup.</a:t>
            </a:r>
          </a:p>
        </p:txBody>
      </p:sp>
      <p:sp>
        <p:nvSpPr>
          <p:cNvPr id="19" name="Rectangle 18"/>
          <p:cNvSpPr/>
          <p:nvPr/>
        </p:nvSpPr>
        <p:spPr>
          <a:xfrm>
            <a:off x="6190488"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0488"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Risiko desain</a:t>
            </a:r>
          </a:p>
        </p:txBody>
      </p:sp>
      <p:sp>
        <p:nvSpPr>
          <p:cNvPr id="22" name="TextBox 21"/>
          <p:cNvSpPr txBox="1"/>
          <p:nvPr/>
        </p:nvSpPr>
        <p:spPr>
          <a:xfrm>
            <a:off x="6391656"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Spillover lintaswilayah, seasonality, overlap</a:t>
            </a:r>
          </a:p>
          <a:p>
            <a:pPr>
              <a:lnSpc>
                <a:spcPct val="118000"/>
              </a:lnSpc>
              <a:spcBef>
                <a:spcPts val="0"/>
              </a:spcBef>
              <a:spcAft>
                <a:spcPts val="0"/>
              </a:spcAft>
              <a:defRPr sz="1500" b="0">
                <a:solidFill>
                  <a:srgbClr val="BDD0E2"/>
                </a:solidFill>
                <a:latin typeface="DejaVu Sans"/>
              </a:defRPr>
            </a:pPr>
            <a:r>
              <a:t>campaign dan perubahan channel.</a:t>
            </a:r>
          </a:p>
        </p:txBody>
      </p:sp>
      <p:sp>
        <p:nvSpPr>
          <p:cNvPr id="23" name="TextBox 22"/>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Jika randomisasi tidak tersedia, quasi-experiment membutuhkan asumsi yang harus diuji.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17 / REPRODUCIBLE ENGINEERING</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Model artifact dan batch scoring</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37</a:t>
            </a:r>
          </a:p>
        </p:txBody>
      </p:sp>
      <p:sp>
        <p:nvSpPr>
          <p:cNvPr id="7" name="Rectangle 6"/>
          <p:cNvSpPr/>
          <p:nvPr/>
        </p:nvSpPr>
        <p:spPr>
          <a:xfrm>
            <a:off x="594360"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Training</a:t>
            </a:r>
          </a:p>
        </p:txBody>
      </p:sp>
      <p:sp>
        <p:nvSpPr>
          <p:cNvPr id="10" name="TextBox 9"/>
          <p:cNvSpPr txBox="1"/>
          <p:nvPr/>
        </p:nvSpPr>
        <p:spPr>
          <a:xfrm>
            <a:off x="795528"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python build_case.py --customers 6000 --seed 26</a:t>
            </a:r>
          </a:p>
        </p:txBody>
      </p:sp>
      <p:sp>
        <p:nvSpPr>
          <p:cNvPr id="11" name="Rectangle 10"/>
          <p:cNvSpPr/>
          <p:nvPr/>
        </p:nvSpPr>
        <p:spPr>
          <a:xfrm>
            <a:off x="6190488"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Artifact</a:t>
            </a:r>
          </a:p>
        </p:txBody>
      </p:sp>
      <p:sp>
        <p:nvSpPr>
          <p:cNvPr id="14" name="TextBox 13"/>
          <p:cNvSpPr txBox="1"/>
          <p:nvPr/>
        </p:nvSpPr>
        <p:spPr>
          <a:xfrm>
            <a:off x="6391656"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artifacts/models/churn_model.joblib berisi</a:t>
            </a:r>
          </a:p>
          <a:p>
            <a:pPr>
              <a:lnSpc>
                <a:spcPct val="118000"/>
              </a:lnSpc>
              <a:spcBef>
                <a:spcPts val="0"/>
              </a:spcBef>
              <a:spcAft>
                <a:spcPts val="0"/>
              </a:spcAft>
              <a:defRPr sz="1500" b="0">
                <a:solidFill>
                  <a:srgbClr val="BDD0E2"/>
                </a:solidFill>
                <a:latin typeface="DejaVu Sans"/>
              </a:defRPr>
            </a:pPr>
            <a:r>
              <a:t>pipeline, fitur, threshold dan metadata.</a:t>
            </a:r>
          </a:p>
        </p:txBody>
      </p:sp>
      <p:sp>
        <p:nvSpPr>
          <p:cNvPr id="15" name="Rectangle 14"/>
          <p:cNvSpPr/>
          <p:nvPr/>
        </p:nvSpPr>
        <p:spPr>
          <a:xfrm>
            <a:off x="594360"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Scoring</a:t>
            </a:r>
          </a:p>
        </p:txBody>
      </p:sp>
      <p:sp>
        <p:nvSpPr>
          <p:cNvPr id="18" name="TextBox 17"/>
          <p:cNvSpPr txBox="1"/>
          <p:nvPr/>
        </p:nvSpPr>
        <p:spPr>
          <a:xfrm>
            <a:off x="795528"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python -m insurance_lab.score dengan --model,</a:t>
            </a:r>
          </a:p>
          <a:p>
            <a:pPr>
              <a:lnSpc>
                <a:spcPct val="118000"/>
              </a:lnSpc>
              <a:spcBef>
                <a:spcPts val="0"/>
              </a:spcBef>
              <a:spcAft>
                <a:spcPts val="0"/>
              </a:spcAft>
              <a:defRPr sz="1500" b="0">
                <a:solidFill>
                  <a:srgbClr val="BDD0E2"/>
                </a:solidFill>
                <a:latin typeface="DejaVu Sans"/>
              </a:defRPr>
            </a:pPr>
            <a:r>
              <a:t>--input, --output.</a:t>
            </a:r>
          </a:p>
        </p:txBody>
      </p:sp>
      <p:sp>
        <p:nvSpPr>
          <p:cNvPr id="19" name="Rectangle 18"/>
          <p:cNvSpPr/>
          <p:nvPr/>
        </p:nvSpPr>
        <p:spPr>
          <a:xfrm>
            <a:off x="6190488"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0488"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Review</a:t>
            </a:r>
          </a:p>
        </p:txBody>
      </p:sp>
      <p:sp>
        <p:nvSpPr>
          <p:cNvPr id="22" name="TextBox 21"/>
          <p:cNvSpPr txBox="1"/>
          <p:nvPr/>
        </p:nvSpPr>
        <p:spPr>
          <a:xfrm>
            <a:off x="6391656"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Gunakan scoring_example.csv; lihat hasil batch</a:t>
            </a:r>
          </a:p>
          <a:p>
            <a:pPr>
              <a:lnSpc>
                <a:spcPct val="118000"/>
              </a:lnSpc>
              <a:spcBef>
                <a:spcPts val="0"/>
              </a:spcBef>
              <a:spcAft>
                <a:spcPts val="0"/>
              </a:spcAft>
              <a:defRPr sz="1500" b="0">
                <a:solidFill>
                  <a:srgbClr val="BDD0E2"/>
                </a:solidFill>
                <a:latin typeface="DejaVu Sans"/>
              </a:defRPr>
            </a:pPr>
            <a:r>
              <a:t>sebelum integrasi sistem lain.</a:t>
            </a:r>
          </a:p>
        </p:txBody>
      </p:sp>
      <p:sp>
        <p:nvSpPr>
          <p:cNvPr id="23" name="TextBox 22"/>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README memuat command lengkap, termasuk jalur input dan output.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18 / MONITORING DIAGNOSTICS</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Distribution shift harus ditinjau</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38</a:t>
            </a:r>
          </a:p>
        </p:txBody>
      </p:sp>
      <p:pic>
        <p:nvPicPr>
          <p:cNvPr id="7" name="Picture 6" descr="distribution_shift.png"/>
          <p:cNvPicPr>
            <a:picLocks noChangeAspect="1"/>
          </p:cNvPicPr>
          <p:nvPr/>
        </p:nvPicPr>
        <p:blipFill>
          <a:blip r:embed="rId2"/>
          <a:stretch>
            <a:fillRect/>
          </a:stretch>
        </p:blipFill>
        <p:spPr>
          <a:xfrm>
            <a:off x="1403603" y="1700784"/>
            <a:ext cx="9354312" cy="4251960"/>
          </a:xfrm>
          <a:prstGeom prst="rect">
            <a:avLst/>
          </a:prstGeom>
        </p:spPr>
      </p:pic>
      <p:sp>
        <p:nvSpPr>
          <p:cNvPr id="8" name="TextBox 7"/>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Perbedaan distribusi tidak otomatis berarti model gagal; hubungkan dengan kinerja dan konteks.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18 / PRODUCTION DESIGN</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Monitoring dan tata kelola setelah tutorial</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39</a:t>
            </a:r>
          </a:p>
        </p:txBody>
      </p:sp>
      <p:sp>
        <p:nvSpPr>
          <p:cNvPr id="7" name="Rectangle 6"/>
          <p:cNvSpPr/>
          <p:nvPr/>
        </p:nvSpPr>
        <p:spPr>
          <a:xfrm>
            <a:off x="594360"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Data</a:t>
            </a:r>
          </a:p>
        </p:txBody>
      </p:sp>
      <p:sp>
        <p:nvSpPr>
          <p:cNvPr id="10" name="TextBox 9"/>
          <p:cNvSpPr txBox="1"/>
          <p:nvPr/>
        </p:nvSpPr>
        <p:spPr>
          <a:xfrm>
            <a:off x="795528"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Schema, null, duplikasi, ketepatan timestamp,</a:t>
            </a:r>
          </a:p>
          <a:p>
            <a:pPr>
              <a:lnSpc>
                <a:spcPct val="118000"/>
              </a:lnSpc>
              <a:spcBef>
                <a:spcPts val="0"/>
              </a:spcBef>
              <a:spcAft>
                <a:spcPts val="0"/>
              </a:spcAft>
              <a:defRPr sz="1500" b="0">
                <a:solidFill>
                  <a:srgbClr val="BDD0E2"/>
                </a:solidFill>
                <a:latin typeface="DejaVu Sans"/>
              </a:defRPr>
            </a:pPr>
            <a:r>
              <a:t>freshness dan missing channel.</a:t>
            </a:r>
          </a:p>
        </p:txBody>
      </p:sp>
      <p:sp>
        <p:nvSpPr>
          <p:cNvPr id="11" name="Rectangle 10"/>
          <p:cNvSpPr/>
          <p:nvPr/>
        </p:nvSpPr>
        <p:spPr>
          <a:xfrm>
            <a:off x="6190488"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Model</a:t>
            </a:r>
          </a:p>
        </p:txBody>
      </p:sp>
      <p:sp>
        <p:nvSpPr>
          <p:cNvPr id="14" name="TextBox 13"/>
          <p:cNvSpPr txBox="1"/>
          <p:nvPr/>
        </p:nvSpPr>
        <p:spPr>
          <a:xfrm>
            <a:off x="6391656"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AP, lift, Brier, reliability dan stabilitas per</a:t>
            </a:r>
          </a:p>
          <a:p>
            <a:pPr>
              <a:lnSpc>
                <a:spcPct val="118000"/>
              </a:lnSpc>
              <a:spcBef>
                <a:spcPts val="0"/>
              </a:spcBef>
              <a:spcAft>
                <a:spcPts val="0"/>
              </a:spcAft>
              <a:defRPr sz="1500" b="0">
                <a:solidFill>
                  <a:srgbClr val="BDD0E2"/>
                </a:solidFill>
                <a:latin typeface="DejaVu Sans"/>
              </a:defRPr>
            </a:pPr>
            <a:r>
              <a:t>bulan serta kelompok.</a:t>
            </a:r>
          </a:p>
        </p:txBody>
      </p:sp>
      <p:sp>
        <p:nvSpPr>
          <p:cNvPr id="15" name="Rectangle 14"/>
          <p:cNvSpPr/>
          <p:nvPr/>
        </p:nvSpPr>
        <p:spPr>
          <a:xfrm>
            <a:off x="594360"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Bisnis</a:t>
            </a:r>
          </a:p>
        </p:txBody>
      </p:sp>
      <p:sp>
        <p:nvSpPr>
          <p:cNvPr id="18" name="TextBox 17"/>
          <p:cNvSpPr txBox="1"/>
          <p:nvPr/>
        </p:nvSpPr>
        <p:spPr>
          <a:xfrm>
            <a:off x="795528"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Incremental retention, biaya, margin, conversion</a:t>
            </a:r>
          </a:p>
          <a:p>
            <a:pPr>
              <a:lnSpc>
                <a:spcPct val="118000"/>
              </a:lnSpc>
              <a:spcBef>
                <a:spcPts val="0"/>
              </a:spcBef>
              <a:spcAft>
                <a:spcPts val="0"/>
              </a:spcAft>
              <a:defRPr sz="1500" b="0">
                <a:solidFill>
                  <a:srgbClr val="BDD0E2"/>
                </a:solidFill>
                <a:latin typeface="DejaVu Sans"/>
              </a:defRPr>
            </a:pPr>
            <a:r>
              <a:t>dan kepuasan nasabah.</a:t>
            </a:r>
          </a:p>
        </p:txBody>
      </p:sp>
      <p:sp>
        <p:nvSpPr>
          <p:cNvPr id="19" name="Rectangle 18"/>
          <p:cNvSpPr/>
          <p:nvPr/>
        </p:nvSpPr>
        <p:spPr>
          <a:xfrm>
            <a:off x="6190488"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0488"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Operasi</a:t>
            </a:r>
          </a:p>
        </p:txBody>
      </p:sp>
      <p:sp>
        <p:nvSpPr>
          <p:cNvPr id="22" name="TextBox 21"/>
          <p:cNvSpPr txBox="1"/>
          <p:nvPr/>
        </p:nvSpPr>
        <p:spPr>
          <a:xfrm>
            <a:off x="6391656"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Akses data, audit log, review manusia, rollback</a:t>
            </a:r>
          </a:p>
          <a:p>
            <a:pPr>
              <a:lnSpc>
                <a:spcPct val="118000"/>
              </a:lnSpc>
              <a:spcBef>
                <a:spcPts val="0"/>
              </a:spcBef>
              <a:spcAft>
                <a:spcPts val="0"/>
              </a:spcAft>
              <a:defRPr sz="1500" b="0">
                <a:solidFill>
                  <a:srgbClr val="BDD0E2"/>
                </a:solidFill>
                <a:latin typeface="DejaVu Sans"/>
              </a:defRPr>
            </a:pPr>
            <a:r>
              <a:t>dan jadwal evaluasi ulang.</a:t>
            </a:r>
          </a:p>
        </p:txBody>
      </p:sp>
      <p:sp>
        <p:nvSpPr>
          <p:cNvPr id="23" name="TextBox 22"/>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Dashboard tutorial adalah laporan offline; monitoring produksi membutuhkan integrasi dan outcome yang matang.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19 / EXECUTIVE COMMUNICATION</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Dashboard untuk menjelaskan keputusan</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40</a:t>
            </a:r>
          </a:p>
        </p:txBody>
      </p:sp>
      <p:pic>
        <p:nvPicPr>
          <p:cNvPr id="7" name="Picture 6" descr="executive_dashboard.png"/>
          <p:cNvPicPr>
            <a:picLocks noChangeAspect="1"/>
          </p:cNvPicPr>
          <p:nvPr/>
        </p:nvPicPr>
        <p:blipFill>
          <a:blip r:embed="rId2"/>
          <a:stretch>
            <a:fillRect/>
          </a:stretch>
        </p:blipFill>
        <p:spPr>
          <a:xfrm>
            <a:off x="2360294" y="1700784"/>
            <a:ext cx="7440930" cy="4251960"/>
          </a:xfrm>
          <a:prstGeom prst="rect">
            <a:avLst/>
          </a:prstGeom>
        </p:spPr>
      </p:pic>
      <p:sp>
        <p:nvSpPr>
          <p:cNvPr id="8" name="TextBox 7"/>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Presentasikan pola, kualitas prediksi, asumsi dan eksperimen berikutnya dalam satu cerita.</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20 / STUDENT LAB</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Praktikum: deliverable per kelompok</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41</a:t>
            </a:r>
          </a:p>
        </p:txBody>
      </p:sp>
      <p:sp>
        <p:nvSpPr>
          <p:cNvPr id="7" name="Rectangle 6"/>
          <p:cNvSpPr/>
          <p:nvPr/>
        </p:nvSpPr>
        <p:spPr>
          <a:xfrm>
            <a:off x="594360"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Lab 1: framing dan EDA</a:t>
            </a:r>
          </a:p>
        </p:txBody>
      </p:sp>
      <p:sp>
        <p:nvSpPr>
          <p:cNvPr id="10" name="TextBox 9"/>
          <p:cNvSpPr txBox="1"/>
          <p:nvPr/>
        </p:nvSpPr>
        <p:spPr>
          <a:xfrm>
            <a:off x="795528"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Tiga hipotesis; audit; lima grafik; memo yang</a:t>
            </a:r>
          </a:p>
          <a:p>
            <a:pPr>
              <a:lnSpc>
                <a:spcPct val="118000"/>
              </a:lnSpc>
              <a:spcBef>
                <a:spcPts val="0"/>
              </a:spcBef>
              <a:spcAft>
                <a:spcPts val="0"/>
              </a:spcAft>
              <a:defRPr sz="1500" b="0">
                <a:solidFill>
                  <a:srgbClr val="BDD0E2"/>
                </a:solidFill>
                <a:latin typeface="DejaVu Sans"/>
              </a:defRPr>
            </a:pPr>
            <a:r>
              <a:t>membedakan fakta dan dugaan.</a:t>
            </a:r>
          </a:p>
        </p:txBody>
      </p:sp>
      <p:sp>
        <p:nvSpPr>
          <p:cNvPr id="11" name="Rectangle 10"/>
          <p:cNvSpPr/>
          <p:nvPr/>
        </p:nvSpPr>
        <p:spPr>
          <a:xfrm>
            <a:off x="6190488"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Lab 2: fitur dan baseline</a:t>
            </a:r>
          </a:p>
        </p:txBody>
      </p:sp>
      <p:sp>
        <p:nvSpPr>
          <p:cNvPr id="14" name="TextBox 13"/>
          <p:cNvSpPr txBox="1"/>
          <p:nvPr/>
        </p:nvSpPr>
        <p:spPr>
          <a:xfrm>
            <a:off x="6391656"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Definisi label; daftar leakage; split waktu;</a:t>
            </a:r>
          </a:p>
          <a:p>
            <a:pPr>
              <a:lnSpc>
                <a:spcPct val="118000"/>
              </a:lnSpc>
              <a:spcBef>
                <a:spcPts val="0"/>
              </a:spcBef>
              <a:spcAft>
                <a:spcPts val="0"/>
              </a:spcAft>
              <a:defRPr sz="1500" b="0">
                <a:solidFill>
                  <a:srgbClr val="BDD0E2"/>
                </a:solidFill>
                <a:latin typeface="DejaVu Sans"/>
              </a:defRPr>
            </a:pPr>
            <a:r>
              <a:t>reproduksi baseline dan logistik.</a:t>
            </a:r>
          </a:p>
        </p:txBody>
      </p:sp>
      <p:sp>
        <p:nvSpPr>
          <p:cNvPr id="15" name="Rectangle 14"/>
          <p:cNvSpPr/>
          <p:nvPr/>
        </p:nvSpPr>
        <p:spPr>
          <a:xfrm>
            <a:off x="594360"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Lab 3: evaluasi</a:t>
            </a:r>
          </a:p>
        </p:txBody>
      </p:sp>
      <p:sp>
        <p:nvSpPr>
          <p:cNvPr id="18" name="TextBox 17"/>
          <p:cNvSpPr txBox="1"/>
          <p:nvPr/>
        </p:nvSpPr>
        <p:spPr>
          <a:xfrm>
            <a:off x="795528"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Bandingkan AP/lift; bahas calibration; tinjau</a:t>
            </a:r>
          </a:p>
          <a:p>
            <a:pPr>
              <a:lnSpc>
                <a:spcPct val="118000"/>
              </a:lnSpc>
              <a:spcBef>
                <a:spcPts val="0"/>
              </a:spcBef>
              <a:spcAft>
                <a:spcPts val="0"/>
              </a:spcAft>
              <a:defRPr sz="1500" b="0">
                <a:solidFill>
                  <a:srgbClr val="BDD0E2"/>
                </a:solidFill>
                <a:latin typeface="DejaVu Sans"/>
              </a:defRPr>
            </a:pPr>
            <a:r>
              <a:t>false positive dan false negative.</a:t>
            </a:r>
          </a:p>
        </p:txBody>
      </p:sp>
      <p:sp>
        <p:nvSpPr>
          <p:cNvPr id="19" name="Rectangle 18"/>
          <p:cNvSpPr/>
          <p:nvPr/>
        </p:nvSpPr>
        <p:spPr>
          <a:xfrm>
            <a:off x="6190488"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0488"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Lab 4: keputusan</a:t>
            </a:r>
          </a:p>
        </p:txBody>
      </p:sp>
      <p:sp>
        <p:nvSpPr>
          <p:cNvPr id="22" name="TextBox 21"/>
          <p:cNvSpPr txBox="1"/>
          <p:nvPr/>
        </p:nvSpPr>
        <p:spPr>
          <a:xfrm>
            <a:off x="6391656"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Bandingkan forecast; sensitivitas biaya; desain</a:t>
            </a:r>
          </a:p>
          <a:p>
            <a:pPr>
              <a:lnSpc>
                <a:spcPct val="118000"/>
              </a:lnSpc>
              <a:spcBef>
                <a:spcPts val="0"/>
              </a:spcBef>
              <a:spcAft>
                <a:spcPts val="0"/>
              </a:spcAft>
              <a:defRPr sz="1500" b="0">
                <a:solidFill>
                  <a:srgbClr val="BDD0E2"/>
                </a:solidFill>
                <a:latin typeface="DejaVu Sans"/>
              </a:defRPr>
            </a:pPr>
            <a:r>
              <a:t>eksperimen; pitch lima menit.</a:t>
            </a:r>
          </a:p>
        </p:txBody>
      </p:sp>
      <p:sp>
        <p:nvSpPr>
          <p:cNvPr id="23" name="TextBox 22"/>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Notebook dapat dijalankan per tahap; jangan membuka jawaban simulator sebelum hipotesis disusun.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20 / ASSESSMENT</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Rubrik dan pertanyaan penilaian</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42</a:t>
            </a:r>
          </a:p>
        </p:txBody>
      </p:sp>
      <p:sp>
        <p:nvSpPr>
          <p:cNvPr id="7" name="Rectangle 6"/>
          <p:cNvSpPr/>
          <p:nvPr/>
        </p:nvSpPr>
        <p:spPr>
          <a:xfrm>
            <a:off x="594360"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Business framing: 20%</a:t>
            </a:r>
          </a:p>
        </p:txBody>
      </p:sp>
      <p:sp>
        <p:nvSpPr>
          <p:cNvPr id="10" name="TextBox 9"/>
          <p:cNvSpPr txBox="1"/>
          <p:nvPr/>
        </p:nvSpPr>
        <p:spPr>
          <a:xfrm>
            <a:off x="795528"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Target, unit, definisi sukses dan hipotesis yang</a:t>
            </a:r>
          </a:p>
          <a:p>
            <a:pPr>
              <a:lnSpc>
                <a:spcPct val="118000"/>
              </a:lnSpc>
              <a:spcBef>
                <a:spcPts val="0"/>
              </a:spcBef>
              <a:spcAft>
                <a:spcPts val="0"/>
              </a:spcAft>
              <a:defRPr sz="1500" b="0">
                <a:solidFill>
                  <a:srgbClr val="BDD0E2"/>
                </a:solidFill>
                <a:latin typeface="DejaVu Sans"/>
              </a:defRPr>
            </a:pPr>
            <a:r>
              <a:t>bisa diuji.</a:t>
            </a:r>
          </a:p>
        </p:txBody>
      </p:sp>
      <p:sp>
        <p:nvSpPr>
          <p:cNvPr id="11" name="Rectangle 10"/>
          <p:cNvSpPr/>
          <p:nvPr/>
        </p:nvSpPr>
        <p:spPr>
          <a:xfrm>
            <a:off x="6190488"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Data dan EDA: 25%</a:t>
            </a:r>
          </a:p>
        </p:txBody>
      </p:sp>
      <p:sp>
        <p:nvSpPr>
          <p:cNvPr id="14" name="TextBox 13"/>
          <p:cNvSpPr txBox="1"/>
          <p:nvPr/>
        </p:nvSpPr>
        <p:spPr>
          <a:xfrm>
            <a:off x="6391656"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Timestamp, denominator, cohort, missingness dan</a:t>
            </a:r>
          </a:p>
          <a:p>
            <a:pPr>
              <a:lnSpc>
                <a:spcPct val="118000"/>
              </a:lnSpc>
              <a:spcBef>
                <a:spcPts val="0"/>
              </a:spcBef>
              <a:spcAft>
                <a:spcPts val="0"/>
              </a:spcAft>
              <a:defRPr sz="1500" b="0">
                <a:solidFill>
                  <a:srgbClr val="BDD0E2"/>
                </a:solidFill>
                <a:latin typeface="DejaVu Sans"/>
              </a:defRPr>
            </a:pPr>
            <a:r>
              <a:t>visual yang tepat.</a:t>
            </a:r>
          </a:p>
        </p:txBody>
      </p:sp>
      <p:sp>
        <p:nvSpPr>
          <p:cNvPr id="15" name="Rectangle 14"/>
          <p:cNvSpPr/>
          <p:nvPr/>
        </p:nvSpPr>
        <p:spPr>
          <a:xfrm>
            <a:off x="594360"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Model dan validasi: 30%</a:t>
            </a:r>
          </a:p>
        </p:txBody>
      </p:sp>
      <p:sp>
        <p:nvSpPr>
          <p:cNvPr id="18" name="TextBox 17"/>
          <p:cNvSpPr txBox="1"/>
          <p:nvPr/>
        </p:nvSpPr>
        <p:spPr>
          <a:xfrm>
            <a:off x="795528"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Baseline, temporal split, metrik, batas</a:t>
            </a:r>
          </a:p>
          <a:p>
            <a:pPr>
              <a:lnSpc>
                <a:spcPct val="118000"/>
              </a:lnSpc>
              <a:spcBef>
                <a:spcPts val="0"/>
              </a:spcBef>
              <a:spcAft>
                <a:spcPts val="0"/>
              </a:spcAft>
              <a:defRPr sz="1500" b="0">
                <a:solidFill>
                  <a:srgbClr val="BDD0E2"/>
                </a:solidFill>
                <a:latin typeface="DejaVu Sans"/>
              </a:defRPr>
            </a:pPr>
            <a:r>
              <a:t>generalisasi dan reproducibility.</a:t>
            </a:r>
          </a:p>
        </p:txBody>
      </p:sp>
      <p:sp>
        <p:nvSpPr>
          <p:cNvPr id="19" name="Rectangle 18"/>
          <p:cNvSpPr/>
          <p:nvPr/>
        </p:nvSpPr>
        <p:spPr>
          <a:xfrm>
            <a:off x="6190488"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0488"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Keputusan: 25%</a:t>
            </a:r>
          </a:p>
        </p:txBody>
      </p:sp>
      <p:sp>
        <p:nvSpPr>
          <p:cNvPr id="22" name="TextBox 21"/>
          <p:cNvSpPr txBox="1"/>
          <p:nvPr/>
        </p:nvSpPr>
        <p:spPr>
          <a:xfrm>
            <a:off x="6391656"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Insight 15%; eksperimen dan komunikasi 10%.</a:t>
            </a:r>
          </a:p>
          <a:p>
            <a:pPr>
              <a:lnSpc>
                <a:spcPct val="118000"/>
              </a:lnSpc>
              <a:spcBef>
                <a:spcPts val="0"/>
              </a:spcBef>
              <a:spcAft>
                <a:spcPts val="0"/>
              </a:spcAft>
              <a:defRPr sz="1500" b="0">
                <a:solidFill>
                  <a:srgbClr val="BDD0E2"/>
                </a:solidFill>
                <a:latin typeface="DejaVu Sans"/>
              </a:defRPr>
            </a:pPr>
            <a:r>
              <a:t>Hindari klaim kausal tanpa desain.</a:t>
            </a:r>
          </a:p>
        </p:txBody>
      </p:sp>
      <p:sp>
        <p:nvSpPr>
          <p:cNvPr id="23" name="TextBox 22"/>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Reproducible dan jujur tentang bukti merupakan syarat dasar semua komponen.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21 / ADVANCED TRACK</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Pengembangan berikutnya sesuai kebutuhan data</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43</a:t>
            </a:r>
          </a:p>
        </p:txBody>
      </p:sp>
      <p:sp>
        <p:nvSpPr>
          <p:cNvPr id="7" name="Rectangle 6"/>
          <p:cNvSpPr/>
          <p:nvPr/>
        </p:nvSpPr>
        <p:spPr>
          <a:xfrm>
            <a:off x="594360"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Survival analysis</a:t>
            </a:r>
          </a:p>
        </p:txBody>
      </p:sp>
      <p:sp>
        <p:nvSpPr>
          <p:cNvPr id="10" name="TextBox 9"/>
          <p:cNvSpPr txBox="1"/>
          <p:nvPr/>
        </p:nvSpPr>
        <p:spPr>
          <a:xfrm>
            <a:off x="795528"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Model waktu menuju lapse dengan right censoring</a:t>
            </a:r>
          </a:p>
          <a:p>
            <a:pPr>
              <a:lnSpc>
                <a:spcPct val="118000"/>
              </a:lnSpc>
              <a:spcBef>
                <a:spcPts val="0"/>
              </a:spcBef>
              <a:spcAft>
                <a:spcPts val="0"/>
              </a:spcAft>
              <a:defRPr sz="1500" b="0">
                <a:solidFill>
                  <a:srgbClr val="BDD0E2"/>
                </a:solidFill>
                <a:latin typeface="DejaVu Sans"/>
              </a:defRPr>
            </a:pPr>
            <a:r>
              <a:t>dan covariates berbasis waktu.</a:t>
            </a:r>
          </a:p>
        </p:txBody>
      </p:sp>
      <p:sp>
        <p:nvSpPr>
          <p:cNvPr id="11" name="Rectangle 10"/>
          <p:cNvSpPr/>
          <p:nvPr/>
        </p:nvSpPr>
        <p:spPr>
          <a:xfrm>
            <a:off x="6190488" y="1810512"/>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810512"/>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1984248"/>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Causal dan uplift</a:t>
            </a:r>
          </a:p>
        </p:txBody>
      </p:sp>
      <p:sp>
        <p:nvSpPr>
          <p:cNvPr id="14" name="TextBox 13"/>
          <p:cNvSpPr txBox="1"/>
          <p:nvPr/>
        </p:nvSpPr>
        <p:spPr>
          <a:xfrm>
            <a:off x="6391656" y="2414016"/>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Pelajari heterogenitas respons setelah</a:t>
            </a:r>
          </a:p>
          <a:p>
            <a:pPr>
              <a:lnSpc>
                <a:spcPct val="118000"/>
              </a:lnSpc>
              <a:spcBef>
                <a:spcPts val="0"/>
              </a:spcBef>
              <a:spcAft>
                <a:spcPts val="0"/>
              </a:spcAft>
              <a:defRPr sz="1500" b="0">
                <a:solidFill>
                  <a:srgbClr val="BDD0E2"/>
                </a:solidFill>
                <a:latin typeface="DejaVu Sans"/>
              </a:defRPr>
            </a:pPr>
            <a:r>
              <a:t>eksperimen treatment-control tersedia.</a:t>
            </a:r>
          </a:p>
        </p:txBody>
      </p:sp>
      <p:sp>
        <p:nvSpPr>
          <p:cNvPr id="15" name="Rectangle 14"/>
          <p:cNvSpPr/>
          <p:nvPr/>
        </p:nvSpPr>
        <p:spPr>
          <a:xfrm>
            <a:off x="594360"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Explainability</a:t>
            </a:r>
          </a:p>
        </p:txBody>
      </p:sp>
      <p:sp>
        <p:nvSpPr>
          <p:cNvPr id="18" name="TextBox 17"/>
          <p:cNvSpPr txBox="1"/>
          <p:nvPr/>
        </p:nvSpPr>
        <p:spPr>
          <a:xfrm>
            <a:off x="795528"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SHAP dan stability checks; tetap perhatikan</a:t>
            </a:r>
          </a:p>
          <a:p>
            <a:pPr>
              <a:lnSpc>
                <a:spcPct val="118000"/>
              </a:lnSpc>
              <a:spcBef>
                <a:spcPts val="0"/>
              </a:spcBef>
              <a:spcAft>
                <a:spcPts val="0"/>
              </a:spcAft>
              <a:defRPr sz="1500" b="0">
                <a:solidFill>
                  <a:srgbClr val="BDD0E2"/>
                </a:solidFill>
                <a:latin typeface="DejaVu Sans"/>
              </a:defRPr>
            </a:pPr>
            <a:r>
              <a:t>fitur berkorelasi dan interpretasi kausal.</a:t>
            </a:r>
          </a:p>
        </p:txBody>
      </p:sp>
      <p:sp>
        <p:nvSpPr>
          <p:cNvPr id="19" name="Rectangle 18"/>
          <p:cNvSpPr/>
          <p:nvPr/>
        </p:nvSpPr>
        <p:spPr>
          <a:xfrm>
            <a:off x="6190488" y="3749039"/>
            <a:ext cx="5413248" cy="1719072"/>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0488" y="3749039"/>
            <a:ext cx="41148" cy="1719072"/>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3922776"/>
            <a:ext cx="5010912" cy="438912"/>
          </a:xfrm>
          <a:prstGeom prst="rect">
            <a:avLst/>
          </a:prstGeom>
          <a:noFill/>
        </p:spPr>
        <p:txBody>
          <a:bodyPr wrap="none" lIns="0" rIns="0" tIns="0" bIns="0">
            <a:spAutoFit/>
          </a:bodyPr>
          <a:lstStyle/>
          <a:p>
            <a:pPr>
              <a:lnSpc>
                <a:spcPct val="118000"/>
              </a:lnSpc>
              <a:spcBef>
                <a:spcPts val="0"/>
              </a:spcBef>
              <a:spcAft>
                <a:spcPts val="0"/>
              </a:spcAft>
              <a:defRPr sz="1700" b="1">
                <a:solidFill>
                  <a:srgbClr val="55DECA"/>
                </a:solidFill>
                <a:latin typeface="DejaVu Sans"/>
              </a:defRPr>
            </a:pPr>
            <a:r>
              <a:t>MLOps</a:t>
            </a:r>
          </a:p>
        </p:txBody>
      </p:sp>
      <p:sp>
        <p:nvSpPr>
          <p:cNvPr id="22" name="TextBox 21"/>
          <p:cNvSpPr txBox="1"/>
          <p:nvPr/>
        </p:nvSpPr>
        <p:spPr>
          <a:xfrm>
            <a:off x="6391656" y="4352544"/>
            <a:ext cx="5010912" cy="1024127"/>
          </a:xfrm>
          <a:prstGeom prst="rect">
            <a:avLst/>
          </a:prstGeom>
          <a:noFill/>
        </p:spPr>
        <p:txBody>
          <a:bodyPr wrap="none" lIns="0" rIns="0" tIns="0" bIns="0">
            <a:spAutoFit/>
          </a:bodyPr>
          <a:lstStyle/>
          <a:p>
            <a:pPr>
              <a:lnSpc>
                <a:spcPct val="118000"/>
              </a:lnSpc>
              <a:spcBef>
                <a:spcPts val="0"/>
              </a:spcBef>
              <a:spcAft>
                <a:spcPts val="0"/>
              </a:spcAft>
              <a:defRPr sz="1500" b="0">
                <a:solidFill>
                  <a:srgbClr val="BDD0E2"/>
                </a:solidFill>
                <a:latin typeface="DejaVu Sans"/>
              </a:defRPr>
            </a:pPr>
            <a:r>
              <a:t>Experiment tracking, feature lineage, CI, drift</a:t>
            </a:r>
          </a:p>
          <a:p>
            <a:pPr>
              <a:lnSpc>
                <a:spcPct val="118000"/>
              </a:lnSpc>
              <a:spcBef>
                <a:spcPts val="0"/>
              </a:spcBef>
              <a:spcAft>
                <a:spcPts val="0"/>
              </a:spcAft>
              <a:defRPr sz="1500" b="0">
                <a:solidFill>
                  <a:srgbClr val="BDD0E2"/>
                </a:solidFill>
                <a:latin typeface="DejaVu Sans"/>
              </a:defRPr>
            </a:pPr>
            <a:r>
              <a:t>monitoring dan kontrol deployment.</a:t>
            </a:r>
          </a:p>
        </p:txBody>
      </p:sp>
      <p:sp>
        <p:nvSpPr>
          <p:cNvPr id="23" name="TextBox 22"/>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Advanced track adalah materi lanjutan; library tersebut tidak diperlukan untuk menjalankan paket inti.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0243B"/>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0972800" cy="274320"/>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22 / REFERENCES AND NEXT STEPS</a:t>
            </a:r>
          </a:p>
        </p:txBody>
      </p:sp>
      <p:sp>
        <p:nvSpPr>
          <p:cNvPr id="4" name="TextBox 3"/>
          <p:cNvSpPr txBox="1"/>
          <p:nvPr/>
        </p:nvSpPr>
        <p:spPr>
          <a:xfrm>
            <a:off x="548640" y="768096"/>
            <a:ext cx="11064240" cy="777240"/>
          </a:xfrm>
          <a:prstGeom prst="rect">
            <a:avLst/>
          </a:prstGeom>
          <a:noFill/>
        </p:spPr>
        <p:txBody>
          <a:bodyPr wrap="none" lIns="0" rIns="0" tIns="0" bIns="0">
            <a:spAutoFit/>
          </a:bodyPr>
          <a:lstStyle/>
          <a:p>
            <a:pPr>
              <a:lnSpc>
                <a:spcPct val="118000"/>
              </a:lnSpc>
              <a:spcBef>
                <a:spcPts val="0"/>
              </a:spcBef>
              <a:spcAft>
                <a:spcPts val="0"/>
              </a:spcAft>
              <a:defRPr sz="2800" b="1">
                <a:solidFill>
                  <a:srgbClr val="F5F8FC"/>
                </a:solidFill>
                <a:latin typeface="DejaVu Sans"/>
              </a:defRPr>
            </a:pPr>
            <a:r>
              <a:t>Sumber belajar dan penutupan kelas</a:t>
            </a:r>
          </a:p>
        </p:txBody>
      </p:sp>
      <p:sp>
        <p:nvSpPr>
          <p:cNvPr id="5" name="TextBox 4"/>
          <p:cNvSpPr txBox="1"/>
          <p:nvPr/>
        </p:nvSpPr>
        <p:spPr>
          <a:xfrm>
            <a:off x="548640" y="6446520"/>
            <a:ext cx="10058400" cy="201168"/>
          </a:xfrm>
          <a:prstGeom prst="rect">
            <a:avLst/>
          </a:prstGeom>
          <a:noFill/>
        </p:spPr>
        <p:txBody>
          <a:bodyPr wrap="none" lIns="0" rIns="0" tIns="0" bIns="0">
            <a:spAutoFit/>
          </a:bodyPr>
          <a:lstStyle/>
          <a:p>
            <a:pPr>
              <a:lnSpc>
                <a:spcPct val="118000"/>
              </a:lnSpc>
              <a:spcBef>
                <a:spcPts val="0"/>
              </a:spcBef>
              <a:spcAft>
                <a:spcPts val="0"/>
              </a:spcAft>
              <a:defRPr sz="900" b="0">
                <a:solidFill>
                  <a:srgbClr val="BDD0E2"/>
                </a:solidFill>
                <a:latin typeface="DejaVu Sans"/>
              </a:defRPr>
            </a:pPr>
            <a:r>
              <a:t>INSURANCE BEHAVIOR LAB   /   DATA SINTETIS   /   WORKSHOP</a:t>
            </a:r>
          </a:p>
        </p:txBody>
      </p:sp>
      <p:sp>
        <p:nvSpPr>
          <p:cNvPr id="6" name="TextBox 5"/>
          <p:cNvSpPr txBox="1"/>
          <p:nvPr/>
        </p:nvSpPr>
        <p:spPr>
          <a:xfrm>
            <a:off x="11064240" y="6446520"/>
            <a:ext cx="548640" cy="201168"/>
          </a:xfrm>
          <a:prstGeom prst="rect">
            <a:avLst/>
          </a:prstGeom>
          <a:noFill/>
        </p:spPr>
        <p:txBody>
          <a:bodyPr wrap="none" lIns="0" rIns="0" tIns="0" bIns="0">
            <a:spAutoFit/>
          </a:bodyPr>
          <a:lstStyle/>
          <a:p>
            <a:pPr>
              <a:lnSpc>
                <a:spcPct val="118000"/>
              </a:lnSpc>
              <a:spcBef>
                <a:spcPts val="0"/>
              </a:spcBef>
              <a:spcAft>
                <a:spcPts val="0"/>
              </a:spcAft>
              <a:defRPr sz="1000" b="1">
                <a:solidFill>
                  <a:srgbClr val="55DECA"/>
                </a:solidFill>
                <a:latin typeface="DejaVu Sans"/>
              </a:defRPr>
            </a:pPr>
            <a:r>
              <a:t>44</a:t>
            </a:r>
          </a:p>
        </p:txBody>
      </p:sp>
      <p:sp>
        <p:nvSpPr>
          <p:cNvPr id="7" name="Rectangle 6"/>
          <p:cNvSpPr/>
          <p:nvPr/>
        </p:nvSpPr>
        <p:spPr>
          <a:xfrm>
            <a:off x="594360" y="1865376"/>
            <a:ext cx="5413248" cy="3337560"/>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65376"/>
            <a:ext cx="41148" cy="3337560"/>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039112"/>
            <a:ext cx="5010912" cy="438912"/>
          </a:xfrm>
          <a:prstGeom prst="rect">
            <a:avLst/>
          </a:prstGeom>
          <a:noFill/>
        </p:spPr>
        <p:txBody>
          <a:bodyPr wrap="none" lIns="0" rIns="0" tIns="0" bIns="0">
            <a:spAutoFit/>
          </a:bodyPr>
          <a:lstStyle/>
          <a:p>
            <a:pPr>
              <a:lnSpc>
                <a:spcPct val="118000"/>
              </a:lnSpc>
              <a:spcBef>
                <a:spcPts val="0"/>
              </a:spcBef>
              <a:spcAft>
                <a:spcPts val="0"/>
              </a:spcAft>
              <a:defRPr sz="2000" b="1">
                <a:solidFill>
                  <a:srgbClr val="55DECA"/>
                </a:solidFill>
                <a:latin typeface="DejaVu Sans"/>
              </a:defRPr>
            </a:pPr>
            <a:r>
              <a:t>Dokumentasi teknis</a:t>
            </a:r>
          </a:p>
        </p:txBody>
      </p:sp>
      <p:sp>
        <p:nvSpPr>
          <p:cNvPr id="10" name="TextBox 9"/>
          <p:cNvSpPr txBox="1"/>
          <p:nvPr/>
        </p:nvSpPr>
        <p:spPr>
          <a:xfrm>
            <a:off x="795528" y="2596896"/>
            <a:ext cx="5010912" cy="2459736"/>
          </a:xfrm>
          <a:prstGeom prst="rect">
            <a:avLst/>
          </a:prstGeom>
          <a:noFill/>
        </p:spPr>
        <p:txBody>
          <a:bodyPr wrap="none" lIns="0" rIns="0" tIns="0" bIns="0">
            <a:spAutoFit/>
          </a:bodyPr>
          <a:lstStyle/>
          <a:p>
            <a:pPr>
              <a:lnSpc>
                <a:spcPct val="118000"/>
              </a:lnSpc>
              <a:spcBef>
                <a:spcPts val="0"/>
              </a:spcBef>
              <a:spcAft>
                <a:spcPts val="0"/>
              </a:spcAft>
              <a:defRPr sz="1800" b="0">
                <a:solidFill>
                  <a:srgbClr val="BDD0E2"/>
                </a:solidFill>
                <a:latin typeface="DejaVu Sans"/>
              </a:defRPr>
            </a:pPr>
            <a:r>
              <a:t>scikit-learn: temporal validation,</a:t>
            </a:r>
          </a:p>
          <a:p>
            <a:pPr>
              <a:lnSpc>
                <a:spcPct val="118000"/>
              </a:lnSpc>
              <a:spcBef>
                <a:spcPts val="0"/>
              </a:spcBef>
              <a:spcAft>
                <a:spcPts val="0"/>
              </a:spcAft>
              <a:defRPr sz="1800" b="0">
                <a:solidFill>
                  <a:srgbClr val="BDD0E2"/>
                </a:solidFill>
                <a:latin typeface="DejaVu Sans"/>
              </a:defRPr>
            </a:pPr>
            <a:r>
              <a:t>average precision, calibration dan</a:t>
            </a:r>
          </a:p>
          <a:p>
            <a:pPr>
              <a:lnSpc>
                <a:spcPct val="118000"/>
              </a:lnSpc>
              <a:spcBef>
                <a:spcPts val="0"/>
              </a:spcBef>
              <a:spcAft>
                <a:spcPts val="0"/>
              </a:spcAft>
              <a:defRPr sz="1800" b="0">
                <a:solidFill>
                  <a:srgbClr val="BDD0E2"/>
                </a:solidFill>
                <a:latin typeface="DejaVu Sans"/>
              </a:defRPr>
            </a:pPr>
            <a:r>
              <a:t>permutation importance.</a:t>
            </a:r>
          </a:p>
        </p:txBody>
      </p:sp>
      <p:sp>
        <p:nvSpPr>
          <p:cNvPr id="11" name="Rectangle 10"/>
          <p:cNvSpPr/>
          <p:nvPr/>
        </p:nvSpPr>
        <p:spPr>
          <a:xfrm>
            <a:off x="6190488" y="1865376"/>
            <a:ext cx="5413248" cy="3337560"/>
          </a:xfrm>
          <a:prstGeom prst="rect">
            <a:avLst/>
          </a:prstGeom>
          <a:solidFill>
            <a:srgbClr val="1934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0488" y="1865376"/>
            <a:ext cx="41148" cy="3337560"/>
          </a:xfrm>
          <a:prstGeom prst="rect">
            <a:avLst/>
          </a:prstGeom>
          <a:solidFill>
            <a:srgbClr val="55DE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1656" y="2039112"/>
            <a:ext cx="5010912" cy="438912"/>
          </a:xfrm>
          <a:prstGeom prst="rect">
            <a:avLst/>
          </a:prstGeom>
          <a:noFill/>
        </p:spPr>
        <p:txBody>
          <a:bodyPr wrap="none" lIns="0" rIns="0" tIns="0" bIns="0">
            <a:spAutoFit/>
          </a:bodyPr>
          <a:lstStyle/>
          <a:p>
            <a:pPr>
              <a:lnSpc>
                <a:spcPct val="118000"/>
              </a:lnSpc>
              <a:spcBef>
                <a:spcPts val="0"/>
              </a:spcBef>
              <a:spcAft>
                <a:spcPts val="0"/>
              </a:spcAft>
              <a:defRPr sz="2000" b="1">
                <a:solidFill>
                  <a:srgbClr val="55DECA"/>
                </a:solidFill>
                <a:latin typeface="DejaVu Sans"/>
              </a:defRPr>
            </a:pPr>
            <a:r>
              <a:t>Konteks Indonesia</a:t>
            </a:r>
          </a:p>
        </p:txBody>
      </p:sp>
      <p:sp>
        <p:nvSpPr>
          <p:cNvPr id="14" name="TextBox 13"/>
          <p:cNvSpPr txBox="1"/>
          <p:nvPr/>
        </p:nvSpPr>
        <p:spPr>
          <a:xfrm>
            <a:off x="6391656" y="2596896"/>
            <a:ext cx="5010912" cy="2459736"/>
          </a:xfrm>
          <a:prstGeom prst="rect">
            <a:avLst/>
          </a:prstGeom>
          <a:noFill/>
        </p:spPr>
        <p:txBody>
          <a:bodyPr wrap="none" lIns="0" rIns="0" tIns="0" bIns="0">
            <a:spAutoFit/>
          </a:bodyPr>
          <a:lstStyle/>
          <a:p>
            <a:pPr>
              <a:lnSpc>
                <a:spcPct val="118000"/>
              </a:lnSpc>
              <a:spcBef>
                <a:spcPts val="0"/>
              </a:spcBef>
              <a:spcAft>
                <a:spcPts val="0"/>
              </a:spcAft>
              <a:defRPr sz="1800" b="0">
                <a:solidFill>
                  <a:srgbClr val="BDD0E2"/>
                </a:solidFill>
                <a:latin typeface="DejaVu Sans"/>
              </a:defRPr>
            </a:pPr>
            <a:r>
              <a:t>BPS: metadata IHK; Bank Indonesia:</a:t>
            </a:r>
          </a:p>
          <a:p>
            <a:pPr>
              <a:lnSpc>
                <a:spcPct val="118000"/>
              </a:lnSpc>
              <a:spcBef>
                <a:spcPts val="0"/>
              </a:spcBef>
              <a:spcAft>
                <a:spcPts val="0"/>
              </a:spcAft>
              <a:defRPr sz="1800" b="0">
                <a:solidFill>
                  <a:srgbClr val="BDD0E2"/>
                </a:solidFill>
                <a:latin typeface="DejaVu Sans"/>
              </a:defRPr>
            </a:pPr>
            <a:r>
              <a:t>indikator BI-Rate. Belum digabung ke</a:t>
            </a:r>
          </a:p>
          <a:p>
            <a:pPr>
              <a:lnSpc>
                <a:spcPct val="118000"/>
              </a:lnSpc>
              <a:spcBef>
                <a:spcPts val="0"/>
              </a:spcBef>
              <a:spcAft>
                <a:spcPts val="0"/>
              </a:spcAft>
              <a:defRPr sz="1800" b="0">
                <a:solidFill>
                  <a:srgbClr val="BDD0E2"/>
                </a:solidFill>
                <a:latin typeface="DejaVu Sans"/>
              </a:defRPr>
            </a:pPr>
            <a:r>
              <a:t>data sintetis ini.</a:t>
            </a:r>
          </a:p>
        </p:txBody>
      </p:sp>
      <p:sp>
        <p:nvSpPr>
          <p:cNvPr id="15" name="TextBox 14"/>
          <p:cNvSpPr txBox="1"/>
          <p:nvPr/>
        </p:nvSpPr>
        <p:spPr>
          <a:xfrm>
            <a:off x="612648" y="5971032"/>
            <a:ext cx="10927080" cy="393192"/>
          </a:xfrm>
          <a:prstGeom prst="rect">
            <a:avLst/>
          </a:prstGeom>
          <a:noFill/>
        </p:spPr>
        <p:txBody>
          <a:bodyPr wrap="none" lIns="0" rIns="0" tIns="0" bIns="0">
            <a:spAutoFit/>
          </a:bodyPr>
          <a:lstStyle/>
          <a:p>
            <a:pPr>
              <a:lnSpc>
                <a:spcPct val="118000"/>
              </a:lnSpc>
              <a:spcBef>
                <a:spcPts val="0"/>
              </a:spcBef>
              <a:spcAft>
                <a:spcPts val="0"/>
              </a:spcAft>
              <a:defRPr sz="1200" b="0">
                <a:solidFill>
                  <a:srgbClr val="55DECA"/>
                </a:solidFill>
                <a:latin typeface="DejaVu Sans"/>
              </a:defRPr>
            </a:pPr>
            <a:r>
              <a:t>Prediksi membantu memilih tindakan; eksperimen membantu mengetahui tindakan mana yang bermanfaat.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Behavior Lab — EDA to Machine Learning</dc:title>
  <dc:subject>Studi kasus sintetis churn, renewal dan akuisisi asuransi</dc:subject>
  <dc:creator>Insurance Analytics Workshop</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